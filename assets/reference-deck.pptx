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acc13dd8c40e2" /><Relationship Type="http://schemas.openxmlformats.org/officeDocument/2006/relationships/extended-properties" Target="/docProps/app.xml" Id="R3c328ee2c8c246a0" /><Relationship Type="http://schemas.openxmlformats.org/officeDocument/2006/relationships/officeDocument" Target="/ppt/presentation.xml" Id="R9220b4c3d099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483b9c511452c"/>
  </p:sldMasterIdLst>
  <p:notesMasterIdLst>
    <p:notesMasterId xmlns:r="http://schemas.openxmlformats.org/officeDocument/2006/relationships" r:id="Rf3ba2cee61a14543"/>
  </p:notesMasterIdLst>
  <p:sldIdLst>
    <p:sldId xmlns:r="http://schemas.openxmlformats.org/officeDocument/2006/relationships" id="256" r:id="R1679db7584b44847"/>
    <p:sldId xmlns:r="http://schemas.openxmlformats.org/officeDocument/2006/relationships" id="257" r:id="R0fc7f43402134871"/>
    <p:sldId xmlns:r="http://schemas.openxmlformats.org/officeDocument/2006/relationships" id="258" r:id="R601e08f05d94497b"/>
    <p:sldId xmlns:r="http://schemas.openxmlformats.org/officeDocument/2006/relationships" id="259" r:id="Rf8064cb739e84b18"/>
    <p:sldId xmlns:r="http://schemas.openxmlformats.org/officeDocument/2006/relationships" id="260" r:id="Ra2c93dfd7f944c7a"/>
    <p:sldId xmlns:r="http://schemas.openxmlformats.org/officeDocument/2006/relationships" id="261" r:id="R667feff4cd004185"/>
    <p:sldId xmlns:r="http://schemas.openxmlformats.org/officeDocument/2006/relationships" id="262" r:id="Re4a2489b96c145a4"/>
    <p:sldId xmlns:r="http://schemas.openxmlformats.org/officeDocument/2006/relationships" id="263" r:id="Rd6f2220f5df2401c"/>
    <p:sldId xmlns:r="http://schemas.openxmlformats.org/officeDocument/2006/relationships" id="264" r:id="R2f49294394b24555"/>
    <p:sldId xmlns:r="http://schemas.openxmlformats.org/officeDocument/2006/relationships" id="265" r:id="R8f97f4a50b964a53"/>
    <p:sldId xmlns:r="http://schemas.openxmlformats.org/officeDocument/2006/relationships" id="266" r:id="R1a06ee6722f14eaa"/>
    <p:sldId xmlns:r="http://schemas.openxmlformats.org/officeDocument/2006/relationships" id="267" r:id="Re944c7fb3f6245a3"/>
    <p:sldId xmlns:r="http://schemas.openxmlformats.org/officeDocument/2006/relationships" id="268" r:id="R94c6b296aba9489b"/>
    <p:sldId xmlns:r="http://schemas.openxmlformats.org/officeDocument/2006/relationships" id="269" r:id="Rbc04d1c7831a4bc1"/>
    <p:sldId xmlns:r="http://schemas.openxmlformats.org/officeDocument/2006/relationships" id="270" r:id="Rcdb7f3dc580943c0"/>
    <p:sldId xmlns:r="http://schemas.openxmlformats.org/officeDocument/2006/relationships" id="271" r:id="R722cbf4097ee454b"/>
    <p:sldId xmlns:r="http://schemas.openxmlformats.org/officeDocument/2006/relationships" id="272" r:id="R24c226bfd9454cb4"/>
    <p:sldId xmlns:r="http://schemas.openxmlformats.org/officeDocument/2006/relationships" id="273" r:id="R57cf230800bd4102"/>
    <p:sldId xmlns:r="http://schemas.openxmlformats.org/officeDocument/2006/relationships" id="274" r:id="Rce6b24f31e974539"/>
    <p:sldId xmlns:r="http://schemas.openxmlformats.org/officeDocument/2006/relationships" id="275" r:id="Re55351900f3c42a9"/>
    <p:sldId xmlns:r="http://schemas.openxmlformats.org/officeDocument/2006/relationships" id="276" r:id="Rce554af8008d4ee5"/>
    <p:sldId xmlns:r="http://schemas.openxmlformats.org/officeDocument/2006/relationships" id="277" r:id="R31c0a999035f45fe"/>
    <p:sldId xmlns:r="http://schemas.openxmlformats.org/officeDocument/2006/relationships" id="278" r:id="R522a18a0d1c44e4f"/>
    <p:sldId xmlns:r="http://schemas.openxmlformats.org/officeDocument/2006/relationships" id="279" r:id="R5539b8705abb420d"/>
    <p:sldId xmlns:r="http://schemas.openxmlformats.org/officeDocument/2006/relationships" id="280" r:id="R93a4f2c8d10845f3"/>
    <p:sldId xmlns:r="http://schemas.openxmlformats.org/officeDocument/2006/relationships" id="281" r:id="Ra6ad4411844b4fdf"/>
    <p:sldId xmlns:r="http://schemas.openxmlformats.org/officeDocument/2006/relationships" id="282" r:id="R7a365a29cde84a26"/>
    <p:sldId xmlns:r="http://schemas.openxmlformats.org/officeDocument/2006/relationships" id="283" r:id="R8926211afde54053"/>
    <p:sldId xmlns:r="http://schemas.openxmlformats.org/officeDocument/2006/relationships" id="284" r:id="Raaa9ab7c49794489"/>
    <p:sldId xmlns:r="http://schemas.openxmlformats.org/officeDocument/2006/relationships" id="285" r:id="R3b6723c460ad40cc"/>
    <p:sldId xmlns:r="http://schemas.openxmlformats.org/officeDocument/2006/relationships" id="286" r:id="R3706c9e75887450e"/>
    <p:sldId xmlns:r="http://schemas.openxmlformats.org/officeDocument/2006/relationships" id="287" r:id="Rd067179a074d4941"/>
    <p:sldId xmlns:r="http://schemas.openxmlformats.org/officeDocument/2006/relationships" id="288" r:id="Ra900b05793dc4154"/>
    <p:sldId xmlns:r="http://schemas.openxmlformats.org/officeDocument/2006/relationships" id="289" r:id="R37f77468a0cc4a75"/>
    <p:sldId xmlns:r="http://schemas.openxmlformats.org/officeDocument/2006/relationships" id="290" r:id="R146d8bb04b5645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b2417a3a04d15" /><Relationship Type="http://schemas.openxmlformats.org/officeDocument/2006/relationships/slideMaster" Target="/ppt/slideMasters/slideMaster1.xml" Id="R50e483b9c511452c" /><Relationship Type="http://schemas.openxmlformats.org/officeDocument/2006/relationships/notesMaster" Target="/ppt/notesMasters/notesMaster1.xml" Id="Rf3ba2cee61a14543" /><Relationship Type="http://schemas.openxmlformats.org/officeDocument/2006/relationships/presProps" Target="/ppt/presProps.xml" Id="R6defe92024c24bae" /><Relationship Type="http://schemas.openxmlformats.org/officeDocument/2006/relationships/tableStyles" Target="/ppt/tableStyles.xml" Id="R573019356d6345d4" /><Relationship Type="http://schemas.openxmlformats.org/officeDocument/2006/relationships/slide" Target="/ppt/slides/slide1.xml" Id="R1679db7584b44847" /><Relationship Type="http://schemas.openxmlformats.org/officeDocument/2006/relationships/slide" Target="/ppt/slides/slide2.xml" Id="R0fc7f43402134871" /><Relationship Type="http://schemas.openxmlformats.org/officeDocument/2006/relationships/slide" Target="/ppt/slides/slide3.xml" Id="R601e08f05d94497b" /><Relationship Type="http://schemas.openxmlformats.org/officeDocument/2006/relationships/slide" Target="/ppt/slides/slide4.xml" Id="Rf8064cb739e84b18" /><Relationship Type="http://schemas.openxmlformats.org/officeDocument/2006/relationships/slide" Target="/ppt/slides/slide5.xml" Id="Ra2c93dfd7f944c7a" /><Relationship Type="http://schemas.openxmlformats.org/officeDocument/2006/relationships/slide" Target="/ppt/slides/slide6.xml" Id="R667feff4cd004185" /><Relationship Type="http://schemas.openxmlformats.org/officeDocument/2006/relationships/slide" Target="/ppt/slides/slide7.xml" Id="Re4a2489b96c145a4" /><Relationship Type="http://schemas.openxmlformats.org/officeDocument/2006/relationships/slide" Target="/ppt/slides/slide8.xml" Id="Rd6f2220f5df2401c" /><Relationship Type="http://schemas.openxmlformats.org/officeDocument/2006/relationships/slide" Target="/ppt/slides/slide9.xml" Id="R2f49294394b24555" /><Relationship Type="http://schemas.openxmlformats.org/officeDocument/2006/relationships/slide" Target="/ppt/slides/slide10.xml" Id="R8f97f4a50b964a53" /><Relationship Type="http://schemas.openxmlformats.org/officeDocument/2006/relationships/slide" Target="/ppt/slides/slide11.xml" Id="R1a06ee6722f14eaa" /><Relationship Type="http://schemas.openxmlformats.org/officeDocument/2006/relationships/slide" Target="/ppt/slides/slide12.xml" Id="Re944c7fb3f6245a3" /><Relationship Type="http://schemas.openxmlformats.org/officeDocument/2006/relationships/slide" Target="/ppt/slides/slide13.xml" Id="R94c6b296aba9489b" /><Relationship Type="http://schemas.openxmlformats.org/officeDocument/2006/relationships/slide" Target="/ppt/slides/slide14.xml" Id="Rbc04d1c7831a4bc1" /><Relationship Type="http://schemas.openxmlformats.org/officeDocument/2006/relationships/slide" Target="/ppt/slides/slide15.xml" Id="Rcdb7f3dc580943c0" /><Relationship Type="http://schemas.openxmlformats.org/officeDocument/2006/relationships/slide" Target="/ppt/slides/slide16.xml" Id="R722cbf4097ee454b" /><Relationship Type="http://schemas.openxmlformats.org/officeDocument/2006/relationships/slide" Target="/ppt/slides/slide17.xml" Id="R24c226bfd9454cb4" /><Relationship Type="http://schemas.openxmlformats.org/officeDocument/2006/relationships/slide" Target="/ppt/slides/slide18.xml" Id="R57cf230800bd4102" /><Relationship Type="http://schemas.openxmlformats.org/officeDocument/2006/relationships/slide" Target="/ppt/slides/slide19.xml" Id="Rce6b24f31e974539" /><Relationship Type="http://schemas.openxmlformats.org/officeDocument/2006/relationships/slide" Target="/ppt/slides/slide20.xml" Id="Re55351900f3c42a9" /><Relationship Type="http://schemas.openxmlformats.org/officeDocument/2006/relationships/slide" Target="/ppt/slides/slide21.xml" Id="Rce554af8008d4ee5" /><Relationship Type="http://schemas.openxmlformats.org/officeDocument/2006/relationships/slide" Target="/ppt/slides/slide22.xml" Id="R31c0a999035f45fe" /><Relationship Type="http://schemas.openxmlformats.org/officeDocument/2006/relationships/slide" Target="/ppt/slides/slide23.xml" Id="R522a18a0d1c44e4f" /><Relationship Type="http://schemas.openxmlformats.org/officeDocument/2006/relationships/slide" Target="/ppt/slides/slide24.xml" Id="R5539b8705abb420d" /><Relationship Type="http://schemas.openxmlformats.org/officeDocument/2006/relationships/slide" Target="/ppt/slides/slide25.xml" Id="R93a4f2c8d10845f3" /><Relationship Type="http://schemas.openxmlformats.org/officeDocument/2006/relationships/slide" Target="/ppt/slides/slide26.xml" Id="Ra6ad4411844b4fdf" /><Relationship Type="http://schemas.openxmlformats.org/officeDocument/2006/relationships/slide" Target="/ppt/slides/slide27.xml" Id="R7a365a29cde84a26" /><Relationship Type="http://schemas.openxmlformats.org/officeDocument/2006/relationships/slide" Target="/ppt/slides/slide28.xml" Id="R8926211afde54053" /><Relationship Type="http://schemas.openxmlformats.org/officeDocument/2006/relationships/slide" Target="/ppt/slides/slide29.xml" Id="Raaa9ab7c49794489" /><Relationship Type="http://schemas.openxmlformats.org/officeDocument/2006/relationships/slide" Target="/ppt/slides/slide30.xml" Id="R3b6723c460ad40cc" /><Relationship Type="http://schemas.openxmlformats.org/officeDocument/2006/relationships/slide" Target="/ppt/slides/slide31.xml" Id="R3706c9e75887450e" /><Relationship Type="http://schemas.openxmlformats.org/officeDocument/2006/relationships/slide" Target="/ppt/slides/slide32.xml" Id="Rd067179a074d4941" /><Relationship Type="http://schemas.openxmlformats.org/officeDocument/2006/relationships/slide" Target="/ppt/slides/slide33.xml" Id="Ra900b05793dc4154" /><Relationship Type="http://schemas.openxmlformats.org/officeDocument/2006/relationships/slide" Target="/ppt/slides/slide34.xml" Id="R37f77468a0cc4a75" /><Relationship Type="http://schemas.openxmlformats.org/officeDocument/2006/relationships/slide" Target="/ppt/slides/slide35.xml" Id="R146d8bb04b56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1787a814c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606e5856041cc" /><Relationship Type="http://schemas.openxmlformats.org/officeDocument/2006/relationships/notesMaster" Target="/ppt/notesMasters/notesMaster1.xml" Id="R5328c9b094e7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b87e15e814b8b" /><Relationship Type="http://schemas.openxmlformats.org/officeDocument/2006/relationships/notesMaster" Target="/ppt/notesMasters/notesMaster1.xml" Id="R22710a54c306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aa6a0b79644ff" /><Relationship Type="http://schemas.openxmlformats.org/officeDocument/2006/relationships/notesMaster" Target="/ppt/notesMasters/notesMaster1.xml" Id="R4010a994f5db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55ccc06b24a23" /><Relationship Type="http://schemas.openxmlformats.org/officeDocument/2006/relationships/notesMaster" Target="/ppt/notesMasters/notesMaster1.xml" Id="R0479c311aca64c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4d56ecf43b421a" /><Relationship Type="http://schemas.openxmlformats.org/officeDocument/2006/relationships/notesMaster" Target="/ppt/notesMasters/notesMaster1.xml" Id="Rac3d2fecb7b0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4b54ba6374769" /><Relationship Type="http://schemas.openxmlformats.org/officeDocument/2006/relationships/notesMaster" Target="/ppt/notesMasters/notesMaster1.xml" Id="R96e83bcd318848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ce0af2f0074f8b" /><Relationship Type="http://schemas.openxmlformats.org/officeDocument/2006/relationships/notesMaster" Target="/ppt/notesMasters/notesMaster1.xml" Id="Rbd35c6ce64fa4d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06310cbc884716" /><Relationship Type="http://schemas.openxmlformats.org/officeDocument/2006/relationships/notesMaster" Target="/ppt/notesMasters/notesMaster1.xml" Id="Rdc4dea92ba124d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8bc7452725438e" /><Relationship Type="http://schemas.openxmlformats.org/officeDocument/2006/relationships/notesMaster" Target="/ppt/notesMasters/notesMaster1.xml" Id="R82247854bc6f4f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c0a558bd464760" /><Relationship Type="http://schemas.openxmlformats.org/officeDocument/2006/relationships/notesMaster" Target="/ppt/notesMasters/notesMaster1.xml" Id="Ra271d13c5b8246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0b03220ad446b" /><Relationship Type="http://schemas.openxmlformats.org/officeDocument/2006/relationships/notesMaster" Target="/ppt/notesMasters/notesMaster1.xml" Id="R20bb75be7d20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2ab5dbafda4cff" /><Relationship Type="http://schemas.openxmlformats.org/officeDocument/2006/relationships/notesMaster" Target="/ppt/notesMasters/notesMaster1.xml" Id="R6544e90facdb43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65c6ecbcf64757" /><Relationship Type="http://schemas.openxmlformats.org/officeDocument/2006/relationships/notesMaster" Target="/ppt/notesMasters/notesMaster1.xml" Id="R2cc1354e959047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74e34dad0e440e" /><Relationship Type="http://schemas.openxmlformats.org/officeDocument/2006/relationships/notesMaster" Target="/ppt/notesMasters/notesMaster1.xml" Id="Rc0130782df1940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f2c9cb151b40df" /><Relationship Type="http://schemas.openxmlformats.org/officeDocument/2006/relationships/notesMaster" Target="/ppt/notesMasters/notesMaster1.xml" Id="R55d7069c311847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109f5bacdb47bd" /><Relationship Type="http://schemas.openxmlformats.org/officeDocument/2006/relationships/notesMaster" Target="/ppt/notesMasters/notesMaster1.xml" Id="Rd08e143a02ab44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17c89ebd474624" /><Relationship Type="http://schemas.openxmlformats.org/officeDocument/2006/relationships/notesMaster" Target="/ppt/notesMasters/notesMaster1.xml" Id="Rad4b6d39947f43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4c54a6f7b04273" /><Relationship Type="http://schemas.openxmlformats.org/officeDocument/2006/relationships/notesMaster" Target="/ppt/notesMasters/notesMaster1.xml" Id="R1f1185cf4f7c45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5a83c132864b1c" /><Relationship Type="http://schemas.openxmlformats.org/officeDocument/2006/relationships/notesMaster" Target="/ppt/notesMasters/notesMaster1.xml" Id="R2ca3d8ea22cc44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419860127245e4" /><Relationship Type="http://schemas.openxmlformats.org/officeDocument/2006/relationships/notesMaster" Target="/ppt/notesMasters/notesMaster1.xml" Id="Raca47d5a07db45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040e51796d4bca" /><Relationship Type="http://schemas.openxmlformats.org/officeDocument/2006/relationships/notesMaster" Target="/ppt/notesMasters/notesMaster1.xml" Id="Rf6cd21648b224c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084889c4e64aaa" /><Relationship Type="http://schemas.openxmlformats.org/officeDocument/2006/relationships/notesMaster" Target="/ppt/notesMasters/notesMaster1.xml" Id="R0d589395ada64d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d3e6ba9b9f49bb" /><Relationship Type="http://schemas.openxmlformats.org/officeDocument/2006/relationships/notesMaster" Target="/ppt/notesMasters/notesMaster1.xml" Id="R013fa55c63284c7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99ffc105fc84f1d" /><Relationship Type="http://schemas.openxmlformats.org/officeDocument/2006/relationships/notesMaster" Target="/ppt/notesMasters/notesMaster1.xml" Id="R85bab054643f4e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f0deda688c4017" /><Relationship Type="http://schemas.openxmlformats.org/officeDocument/2006/relationships/notesMaster" Target="/ppt/notesMasters/notesMaster1.xml" Id="R2f0ad610255043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a9057cb90c428d" /><Relationship Type="http://schemas.openxmlformats.org/officeDocument/2006/relationships/notesMaster" Target="/ppt/notesMasters/notesMaster1.xml" Id="R8c7cb6e60eac4fb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1964e5a52c4158" /><Relationship Type="http://schemas.openxmlformats.org/officeDocument/2006/relationships/notesMaster" Target="/ppt/notesMasters/notesMaster1.xml" Id="R2adc66a3c9e443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292d6da4d34cd7" /><Relationship Type="http://schemas.openxmlformats.org/officeDocument/2006/relationships/notesMaster" Target="/ppt/notesMasters/notesMaster1.xml" Id="Rde69ba1ff9af4d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c1b5c9bb64475a" /><Relationship Type="http://schemas.openxmlformats.org/officeDocument/2006/relationships/notesMaster" Target="/ppt/notesMasters/notesMaster1.xml" Id="R7e1d4b73fbb946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14a3fa6d9343c0" /><Relationship Type="http://schemas.openxmlformats.org/officeDocument/2006/relationships/notesMaster" Target="/ppt/notesMasters/notesMaster1.xml" Id="R493ad3e11bbc44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f77b157d504f55" /><Relationship Type="http://schemas.openxmlformats.org/officeDocument/2006/relationships/notesMaster" Target="/ppt/notesMasters/notesMaster1.xml" Id="R365d78b9b2cd4a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a78ac86192420f" /><Relationship Type="http://schemas.openxmlformats.org/officeDocument/2006/relationships/notesMaster" Target="/ppt/notesMasters/notesMaster1.xml" Id="R7eec65322eb7462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89568cbce044df0" /><Relationship Type="http://schemas.openxmlformats.org/officeDocument/2006/relationships/notesMaster" Target="/ppt/notesMasters/notesMaster1.xml" Id="R52ddef35d8804f6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ba4905e059942a3" /><Relationship Type="http://schemas.openxmlformats.org/officeDocument/2006/relationships/notesMaster" Target="/ppt/notesMasters/notesMaster1.xml" Id="R1488d7a0b76d453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19fb6c166e4d55" /><Relationship Type="http://schemas.openxmlformats.org/officeDocument/2006/relationships/notesMaster" Target="/ppt/notesMasters/notesMaster1.xml" Id="R582bcb1b75f2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图片来源：https://www.reclam.de/produktdetail/schachnovelle-9783150189337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图片来源：https://www.dedao.cn/ebook/detail?id=xGM6Evn5byxq2PnXBz71AjZaol6R8WJKJd3OKpGkd4gmMLEJrYNQe9VvD8P4jLkK</a:t>
            </a:r>
          </a:p>
          <a:p xmlns:a="http://schemas.openxmlformats.org/drawingml/2006/main">
            <a:r>
              <a:t>两部小说都借助棋这种活动，表现了人在特定历史环境下的精神生活。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此页按用户本次提供的文字呈现。[1]标记保留；用户未提供该条脚注的完整文献信息。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图片来源：https://commons.wikimedia.org/wiki/File:Thomas_Mann_%281875-1955%29%2C_circa_1930%2C_SFA003003942.jpg</a:t>
            </a:r>
          </a:p>
          <a:p xmlns:a="http://schemas.openxmlformats.org/drawingml/2006/main">
            <a:r>
              <a:t>图片来源：https://commons.wikimedia.org/wiki/File:Franz_Kafka%2C_1923.jpg</a:t>
            </a:r>
          </a:p>
          <a:p xmlns:a="http://schemas.openxmlformats.org/drawingml/2006/main">
            <a:r>
              <a:t>图片来源：https://commons.wikimedia.org/wiki/File:Hermann_Hesse_1946.jpg</a:t>
            </a:r>
          </a:p>
          <a:p xmlns:a="http://schemas.openxmlformats.org/drawingml/2006/main">
            <a:r>
              <a:t>图片来源：https://commons.wikimedia.org/wiki/File:Alfred_Doeblin_1930.jpg</a:t>
            </a:r>
          </a:p>
          <a:p xmlns:a="http://schemas.openxmlformats.org/drawingml/2006/main">
            <a:r>
              <a:t>图片来源：https://commons.wikimedia.org/wiki/File:Robert_Musil_1900.jpg</a:t>
            </a:r>
          </a:p>
          <a:p xmlns:a="http://schemas.openxmlformats.org/drawingml/2006/main">
            <a:r>
              <a:t>图片来源：https://commons.wikimedia.org/wiki/File:Hermann_Broch_portrait_photograph%2C_1909_%28cropped%29.jpg</a:t>
            </a:r>
          </a:p>
          <a:p xmlns:a="http://schemas.openxmlformats.org/drawingml/2006/main">
            <a:r>
              <a:t>图片来源：https://commons.wikimedia.org/wiki/File:Arthur_Schnitzler_1912_%28cropped%29.jpg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参考文献按用户提供的11项书目收录。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谢谢大家。欢迎老师、同学交流与提问。</a:t>
            </a:r>
          </a:p>
          <a:p xmlns:a="http://schemas.openxmlformats.org/drawingml/2006/main">
            <a:r>
              <a:t>本页文字依据用户本次逐页稿编排。概念插画沿用已确认的钴蓝单墨风格。作家肖像为生成的灰黑网点插画，非历史照片；王小波肖像依据用户提供参考图右侧人物提取重绘。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6642a7c3143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db0c018254b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d7a7c55a547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fd382579648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8731f8a504e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226d2af95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1A934D-9E01-4B62-B757-41EDC790B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3B746A-DA3F-4789-81FA-7F298C23CA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FD5C32-B8FA-4CE4-83D3-096067B1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419E3E-2D58-43F3-AF8E-E97064027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B8EEFD-B9E5-47DD-84B6-A0E10B427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ACEE8D-60DF-40B5-B5E2-7348FF7C1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7AE83D-8E1C-4B60-85DC-53CBCF572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194FBD-5794-4395-8B89-E90F76D389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BE224-1780-47CA-BFDF-5846B2221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661E01-71B7-4304-827A-50D320DAB1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1b150fd3dc47af" /><Relationship Type="http://schemas.openxmlformats.org/officeDocument/2006/relationships/slideLayout" Target="/ppt/slideLayouts/slideLayout1.xml" Id="Re130794e27aa40b0" /><Relationship Type="http://schemas.openxmlformats.org/officeDocument/2006/relationships/slideLayout" Target="/ppt/slideLayouts/slideLayout2.xml" Id="R916363ecba394f7a" /><Relationship Type="http://schemas.openxmlformats.org/officeDocument/2006/relationships/slideLayout" Target="/ppt/slideLayouts/slideLayout3.xml" Id="Rc844455edc984412" /><Relationship Type="http://schemas.openxmlformats.org/officeDocument/2006/relationships/slideLayout" Target="/ppt/slideLayouts/slideLayout4.xml" Id="R46fc83554ffa41ab" /><Relationship Type="http://schemas.openxmlformats.org/officeDocument/2006/relationships/slideLayout" Target="/ppt/slideLayouts/slideLayout5.xml" Id="R5af7b95acc094b1e" /><Relationship Type="http://schemas.openxmlformats.org/officeDocument/2006/relationships/slideLayout" Target="/ppt/slideLayouts/slideLayout6.xml" Id="R36c6a6fee7b94e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0794e27aa40b0"/>
    <p:sldLayoutId xmlns:r="http://schemas.openxmlformats.org/officeDocument/2006/relationships" id="2147483650" r:id="R916363ecba394f7a"/>
    <p:sldLayoutId xmlns:r="http://schemas.openxmlformats.org/officeDocument/2006/relationships" id="2147483651" r:id="Rc844455edc984412"/>
    <p:sldLayoutId xmlns:r="http://schemas.openxmlformats.org/officeDocument/2006/relationships" id="2147483652" r:id="R46fc83554ffa41ab"/>
    <p:sldLayoutId xmlns:r="http://schemas.openxmlformats.org/officeDocument/2006/relationships" id="2147483653" r:id="R5af7b95acc094b1e"/>
    <p:sldLayoutId xmlns:r="http://schemas.openxmlformats.org/officeDocument/2006/relationships" id="2147483654" r:id="R36c6a6fee7b94e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b7a24f0b045ee" /><Relationship Type="http://schemas.openxmlformats.org/officeDocument/2006/relationships/image" Target="/ppt/media/image.png" Id="Rb2399bffc45948c9" /><Relationship Type="http://schemas.openxmlformats.org/officeDocument/2006/relationships/notesSlide" Target="/ppt/notesSlides/notesSlide1.xml" Id="Rc77586ad608e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4c0bb348f4832" /><Relationship Type="http://schemas.openxmlformats.org/officeDocument/2006/relationships/notesSlide" Target="/ppt/notesSlides/notesSlide2.xml" Id="R3911a03a7fe948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8e04374a84ac7" /><Relationship Type="http://schemas.openxmlformats.org/officeDocument/2006/relationships/notesSlide" Target="/ppt/notesSlides/notesSlide3.xml" Id="R3e3c9b77b45b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9c4eea5434552" /><Relationship Type="http://schemas.openxmlformats.org/officeDocument/2006/relationships/image" Target="/ppt/media/image2.png" Id="R42850484584e4013" /><Relationship Type="http://schemas.openxmlformats.org/officeDocument/2006/relationships/notesSlide" Target="/ppt/notesSlides/notesSlide4.xml" Id="R935e6cea190f47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8bd9c45fc4f55" /><Relationship Type="http://schemas.openxmlformats.org/officeDocument/2006/relationships/image" Target="/ppt/media/image.jpeg" Id="Ra7c34af534024ddd" /><Relationship Type="http://schemas.openxmlformats.org/officeDocument/2006/relationships/notesSlide" Target="/ppt/notesSlides/notesSlide5.xml" Id="R99497587ab934b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fe90d107d4c44" /><Relationship Type="http://schemas.openxmlformats.org/officeDocument/2006/relationships/image" Target="/ppt/media/image2.jpeg" Id="R0993d54c50be44b5" /><Relationship Type="http://schemas.openxmlformats.org/officeDocument/2006/relationships/notesSlide" Target="/ppt/notesSlides/notesSlide6.xml" Id="Rabff3d700ea1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c9d94a32649c2" /><Relationship Type="http://schemas.openxmlformats.org/officeDocument/2006/relationships/notesSlide" Target="/ppt/notesSlides/notesSlide7.xml" Id="R813c04e7aacf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881f9b2ed4570" /><Relationship Type="http://schemas.openxmlformats.org/officeDocument/2006/relationships/notesSlide" Target="/ppt/notesSlides/notesSlide8.xml" Id="R073f2b99149d4b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ada5cdbfa40fc" /><Relationship Type="http://schemas.openxmlformats.org/officeDocument/2006/relationships/image" Target="/ppt/media/image3.png" Id="Rddff3e05f28542e5" /><Relationship Type="http://schemas.openxmlformats.org/officeDocument/2006/relationships/notesSlide" Target="/ppt/notesSlides/notesSlide9.xml" Id="Rb05db6b25ba8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22da80af04a52" /><Relationship Type="http://schemas.openxmlformats.org/officeDocument/2006/relationships/notesSlide" Target="/ppt/notesSlides/notesSlide10.xml" Id="Rbcbac0a0314f42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dd3dedd93455c" /><Relationship Type="http://schemas.openxmlformats.org/officeDocument/2006/relationships/notesSlide" Target="/ppt/notesSlides/notesSlide11.xml" Id="R6b84834c9f8446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120b30b864dce" /><Relationship Type="http://schemas.openxmlformats.org/officeDocument/2006/relationships/notesSlide" Target="/ppt/notesSlides/notesSlide12.xml" Id="Ra27899d5ffb647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48e53c34445f8" /><Relationship Type="http://schemas.openxmlformats.org/officeDocument/2006/relationships/notesSlide" Target="/ppt/notesSlides/notesSlide13.xml" Id="Rc588b1c81bf24b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f4bfa72a349ad" /><Relationship Type="http://schemas.openxmlformats.org/officeDocument/2006/relationships/notesSlide" Target="/ppt/notesSlides/notesSlide14.xml" Id="R19fd09a436e04d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ee710a35145b5" /><Relationship Type="http://schemas.openxmlformats.org/officeDocument/2006/relationships/image" Target="/ppt/media/image4.png" Id="R9c0c3c8e8a4c458c" /><Relationship Type="http://schemas.openxmlformats.org/officeDocument/2006/relationships/notesSlide" Target="/ppt/notesSlides/notesSlide15.xml" Id="R83e61b416c6740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68cec80594dba" /><Relationship Type="http://schemas.openxmlformats.org/officeDocument/2006/relationships/image" Target="/ppt/media/image3.jpeg" Id="R7bf0c6ce3508490c" /><Relationship Type="http://schemas.openxmlformats.org/officeDocument/2006/relationships/image" Target="/ppt/media/image4.jpeg" Id="Rc599920f79574896" /><Relationship Type="http://schemas.openxmlformats.org/officeDocument/2006/relationships/image" Target="/ppt/media/image5.jpeg" Id="Rc938971faeba4314" /><Relationship Type="http://schemas.openxmlformats.org/officeDocument/2006/relationships/image" Target="/ppt/media/image6.jpeg" Id="R04e7195ca75640ed" /><Relationship Type="http://schemas.openxmlformats.org/officeDocument/2006/relationships/image" Target="/ppt/media/image7.jpeg" Id="R4d247471b6fd4006" /><Relationship Type="http://schemas.openxmlformats.org/officeDocument/2006/relationships/image" Target="/ppt/media/image8.jpeg" Id="R2d8addff5223409d" /><Relationship Type="http://schemas.openxmlformats.org/officeDocument/2006/relationships/image" Target="/ppt/media/image9.jpeg" Id="R8d1589b96bc84747" /><Relationship Type="http://schemas.openxmlformats.org/officeDocument/2006/relationships/notesSlide" Target="/ppt/notesSlides/notesSlide16.xml" Id="Rfe347faa9c4943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c8f006ea94bff" /><Relationship Type="http://schemas.openxmlformats.org/officeDocument/2006/relationships/notesSlide" Target="/ppt/notesSlides/notesSlide17.xml" Id="Rade0f3647f124e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cf5098f444542" /><Relationship Type="http://schemas.openxmlformats.org/officeDocument/2006/relationships/notesSlide" Target="/ppt/notesSlides/notesSlide18.xml" Id="R6d637fa1f1754c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21060628d4bda" /><Relationship Type="http://schemas.openxmlformats.org/officeDocument/2006/relationships/image" Target="/ppt/media/image5.png" Id="Rd7f0da63dd044981" /><Relationship Type="http://schemas.openxmlformats.org/officeDocument/2006/relationships/notesSlide" Target="/ppt/notesSlides/notesSlide19.xml" Id="R77db8f5871ae43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a88aa17d8407a" /><Relationship Type="http://schemas.openxmlformats.org/officeDocument/2006/relationships/image" Target="/ppt/media/image6.png" Id="R4890ae3e52e743be" /><Relationship Type="http://schemas.openxmlformats.org/officeDocument/2006/relationships/image" Target="/ppt/media/image7.png" Id="R4f1537133a364015" /><Relationship Type="http://schemas.openxmlformats.org/officeDocument/2006/relationships/notesSlide" Target="/ppt/notesSlides/notesSlide20.xml" Id="R5419340fe00343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12cbc47114a09" /><Relationship Type="http://schemas.openxmlformats.org/officeDocument/2006/relationships/image" Target="/ppt/media/image8.png" Id="Rf6ae558144054358" /><Relationship Type="http://schemas.openxmlformats.org/officeDocument/2006/relationships/notesSlide" Target="/ppt/notesSlides/notesSlide21.xml" Id="R461c18f1d66b43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299b5fd394ccc" /><Relationship Type="http://schemas.openxmlformats.org/officeDocument/2006/relationships/image" Target="/ppt/media/image9.png" Id="R1a8b4b11cd2443b0" /><Relationship Type="http://schemas.openxmlformats.org/officeDocument/2006/relationships/notesSlide" Target="/ppt/notesSlides/notesSlide22.xml" Id="Rfed11a51ee3e41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62a575edd42c3" /><Relationship Type="http://schemas.openxmlformats.org/officeDocument/2006/relationships/notesSlide" Target="/ppt/notesSlides/notesSlide23.xml" Id="Re7224a396e7448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6b743423d4124" /><Relationship Type="http://schemas.openxmlformats.org/officeDocument/2006/relationships/image" Target="/ppt/media/image10.png" Id="Rbee8bd2ba0c740a3" /><Relationship Type="http://schemas.openxmlformats.org/officeDocument/2006/relationships/notesSlide" Target="/ppt/notesSlides/notesSlide24.xml" Id="Rf42442056bc14d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0900d104a4ae2" /><Relationship Type="http://schemas.openxmlformats.org/officeDocument/2006/relationships/image" Target="/ppt/media/image11.png" Id="Ra7796aabb17a4a91" /><Relationship Type="http://schemas.openxmlformats.org/officeDocument/2006/relationships/notesSlide" Target="/ppt/notesSlides/notesSlide25.xml" Id="Rb25f38c424bd49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4532f260546bf" /><Relationship Type="http://schemas.openxmlformats.org/officeDocument/2006/relationships/image" Target="/ppt/media/image12.png" Id="R6df67257c5c044cb" /><Relationship Type="http://schemas.openxmlformats.org/officeDocument/2006/relationships/notesSlide" Target="/ppt/notesSlides/notesSlide26.xml" Id="Rf826e37ae58a4d2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b0f6b56ed4322" /><Relationship Type="http://schemas.openxmlformats.org/officeDocument/2006/relationships/image" Target="/ppt/media/image13.png" Id="Re02ebd0ab4c64ef0" /><Relationship Type="http://schemas.openxmlformats.org/officeDocument/2006/relationships/notesSlide" Target="/ppt/notesSlides/notesSlide27.xml" Id="R1261c3aaaddd46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37809abbc4818" /><Relationship Type="http://schemas.openxmlformats.org/officeDocument/2006/relationships/image" Target="/ppt/media/image14.png" Id="Rc62c24710eb3424f" /><Relationship Type="http://schemas.openxmlformats.org/officeDocument/2006/relationships/notesSlide" Target="/ppt/notesSlides/notesSlide28.xml" Id="R8ed8d59e0d344a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004fc1aad4960" /><Relationship Type="http://schemas.openxmlformats.org/officeDocument/2006/relationships/notesSlide" Target="/ppt/notesSlides/notesSlide29.xml" Id="R7d6f3ddb83ee46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f0b62836a425f" /><Relationship Type="http://schemas.openxmlformats.org/officeDocument/2006/relationships/notesSlide" Target="/ppt/notesSlides/notesSlide30.xml" Id="Rd8310ed17b224e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a0abdf56a404a" /><Relationship Type="http://schemas.openxmlformats.org/officeDocument/2006/relationships/notesSlide" Target="/ppt/notesSlides/notesSlide31.xml" Id="Rf2755a5b22414e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03928756e4cd7" /><Relationship Type="http://schemas.openxmlformats.org/officeDocument/2006/relationships/notesSlide" Target="/ppt/notesSlides/notesSlide32.xml" Id="R2c762989e76341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73199d8204387" /><Relationship Type="http://schemas.openxmlformats.org/officeDocument/2006/relationships/image" Target="/ppt/media/image15.png" Id="R8761d908710045bc" /><Relationship Type="http://schemas.openxmlformats.org/officeDocument/2006/relationships/notesSlide" Target="/ppt/notesSlides/notesSlide33.xml" Id="R5acf516cb83f4b4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083383dcd425d" /><Relationship Type="http://schemas.openxmlformats.org/officeDocument/2006/relationships/notesSlide" Target="/ppt/notesSlides/notesSlide34.xml" Id="R5aebc9cd643a4e8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dddf7c2fe4272" /><Relationship Type="http://schemas.openxmlformats.org/officeDocument/2006/relationships/image" Target="/ppt/media/image16.png" Id="R1306c25ca7a04878" /><Relationship Type="http://schemas.openxmlformats.org/officeDocument/2006/relationships/notesSlide" Target="/ppt/notesSlides/notesSlide35.xml" Id="R155958dcb2424675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06DCAD05-02C5-4128-86B4-F0521F8754C0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01 ／</a:t>
            </a:r>
          </a:p>
        </p:txBody>
      </p:sp>
      <p:sp>
        <p:nvSpPr>
          <p:cNvPr id="2" name="">
            <a:extLst>
              <a:ext uri="{FF2B5EF4-FFF2-40B4-BE49-F238E27FC236}">
                <ns2:creationId id="{2ECB6BD5-EEFB-4AA4-BD1A-894E91F4C140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8E20FEF0-A246-4E5F-8A0D-0136D672594E}"/>
              </a:ext>
            </a:extLst>
          </p:cNvPr>
          <p:cNvPicPr>
            <a:picLocks noChangeAspect="1"/>
          </p:cNvPicPr>
          <p:nvPr/>
        </p:nvPicPr>
        <p:blipFill>
          <a:blip r:embed="Rb2399bffc45948c9"/>
          <a:stretch/>
        </p:blipFill>
        <p:spPr>
          <a:xfrm>
            <a:off x="6191250" y="1619250"/>
            <a:ext cx="6000750" cy="400050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8DFA9377-3952-4851-84A2-DAEAB13A62AF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619125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当经典</a:t>
            </a:r>
          </a:p>
          <a:p>
            <a:pPr algn="l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不再令人惊艳</a:t>
            </a:r>
          </a:p>
        </p:txBody>
      </p:sp>
      <p:sp>
        <p:nvSpPr>
          <p:cNvPr id="5" name="">
            <a:extLst>
              <a:ext uri="{FF2B5EF4-FFF2-40B4-BE49-F238E27FC236}">
                <ns2:creationId id="{9B38B319-BCDE-41B7-B7FC-6B37CCD23B5C}"/>
              </a:ext>
            </a:extLst>
          </p:cNvPr>
          <p:cNvSpPr>
            <a:spLocks noGrp="1"/>
          </p:cNvSpPr>
          <p:nvPr/>
        </p:nvSpPr>
        <p:spPr>
          <a:xfrm>
            <a:off x="904875" y="50006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——从《象棋的故事》与《棋王》</a:t>
            </a:r>
          </a:p>
          <a:p>
            <a:pPr algn="l">
              <a:lnSpc>
                <a:spcPct val="132000"/>
              </a:lnSpc>
              <a:buNone/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谈文学的价值与经典的历史命运</a:t>
            </a:r>
          </a:p>
        </p:txBody>
      </p:sp>
    </p:spTree>
    <p:extLst>
      <p:ext uri="{BB962C8B-B14F-4D97-AF65-F5344CB8AC3E}">
        <ns4:creationId val="16703597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8D61779D-EB25-46DA-A2C8-1C23956064BB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02 ／</a:t>
            </a:r>
          </a:p>
        </p:txBody>
      </p:sp>
      <p:sp>
        <p:nvSpPr>
          <p:cNvPr id="2" name="">
            <a:extLst>
              <a:ext uri="{FF2B5EF4-FFF2-40B4-BE49-F238E27FC236}">
                <ns2:creationId id="{A8413636-AED2-4DE1-9B68-40F8FE364C73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D5438412-96CA-44EF-93E6-B647B072B2B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rPr>
              <a:t>布置这次阅读任务之前，</a:t>
            </a:r>
          </a:p>
        </p:txBody>
      </p:sp>
      <p:sp>
        <p:nvSpPr>
          <p:cNvPr id="4" name="">
            <a:extLst>
              <a:ext uri="{FF2B5EF4-FFF2-40B4-BE49-F238E27FC236}">
                <ns2:creationId id="{37FEFEEB-EC88-4822-A8CF-58913DC32945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99060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有多少同学</a:t>
            </a:r>
          </a:p>
          <a:p>
            <a:pPr algn="ctr">
              <a:lnSpc>
                <a:spcPct val="120000"/>
              </a:lnSpc>
              <a:buNone/>
              <a:def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已经读过这两部小说？</a:t>
            </a:r>
          </a:p>
        </p:txBody>
      </p:sp>
    </p:spTree>
    <p:extLst>
      <p:ext uri="{BB962C8B-B14F-4D97-AF65-F5344CB8AC3E}">
        <ns3:creationId val="214317774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CC3A637-5E73-43CF-A14C-C60D315E572B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03 ／</a:t>
            </a:r>
          </a:p>
        </p:txBody>
      </p:sp>
      <p:sp>
        <p:nvSpPr>
          <p:cNvPr id="2" name="">
            <a:extLst>
              <a:ext uri="{FF2B5EF4-FFF2-40B4-BE49-F238E27FC236}">
                <ns2:creationId id="{08414B43-2128-4EC8-8D96-5BDA93757492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EFDCCD8C-1EE5-4A0D-A1C2-0A2B4975565C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F298A90B-F87C-4920-B740-7EF2552CB659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一部作品被公认为经典，</a:t>
            </a:r>
          </a:p>
        </p:txBody>
      </p:sp>
      <p:sp>
        <p:nvSpPr>
          <p:cNvPr id="5" name="">
            <a:extLst>
              <a:ext uri="{FF2B5EF4-FFF2-40B4-BE49-F238E27FC236}">
                <ns2:creationId id="{98ECF82B-B112-4A7B-9FB9-ACBAD69F3FB9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是否就意味着它一定被广泛阅读？</a:t>
            </a:r>
          </a:p>
        </p:txBody>
      </p:sp>
      <p:sp>
        <p:nvSpPr>
          <p:cNvPr id="6" name="">
            <a:extLst>
              <a:ext uri="{FF2B5EF4-FFF2-40B4-BE49-F238E27FC236}">
                <ns2:creationId id="{78908892-C33D-4AA8-B973-15EFF44DE021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9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而一部作品被广泛阅读，</a:t>
            </a:r>
          </a:p>
        </p:txBody>
      </p:sp>
      <p:sp>
        <p:nvSpPr>
          <p:cNvPr id="7" name="">
            <a:extLst>
              <a:ext uri="{FF2B5EF4-FFF2-40B4-BE49-F238E27FC236}">
                <ns2:creationId id="{E376535A-992F-4BDE-B405-DC4F26B0421C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又是否意味着它一定能够成为经典？</a:t>
            </a:r>
          </a:p>
        </p:txBody>
      </p:sp>
    </p:spTree>
    <p:extLst>
      <p:ext uri="{BB962C8B-B14F-4D97-AF65-F5344CB8AC3E}">
        <ns3:creationId val="190778267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FEBADCB8-6F58-4555-AB80-9746ED2BDE33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04 ／</a:t>
            </a:r>
          </a:p>
        </p:txBody>
      </p:sp>
      <p:sp>
        <p:nvSpPr>
          <p:cNvPr id="2" name="">
            <a:extLst>
              <a:ext uri="{FF2B5EF4-FFF2-40B4-BE49-F238E27FC236}">
                <ns2:creationId id="{0B2A4F4C-9043-47BC-8045-CBB885395305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FF48078B-D713-480C-A581-9203F433446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770EF3F4-F05C-44F9-9C82-E4C468F5C36D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994ACB18-CA91-46EA-8FAE-69AD71AC62A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228B9DDB-B318-40FA-AD2C-D094E4D4E29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7A613643-45AE-4FF5-BC3C-E16B917C7FE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A6876A85-7FDE-4F15-9B90-5C7EA2202E8A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4E4AB511-DDE8-4875-9336-61DD034A260F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C6A7A7BA-B060-43ED-854C-FA5A7EA7B6B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5737C77A-3B4D-4B46-A490-F615D1D3C62C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103822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一、两部小说，两盘棋</a:t>
            </a:r>
          </a:p>
        </p:txBody>
      </p:sp>
      <p:pic>
        <p:nvPicPr>
          <p:cNvPr id="12" name="">
            <a:extLst>
              <a:ext uri="{FF2B5EF4-FFF2-40B4-BE49-F238E27FC236}">
                <ns2:creationId id="{C6C3F504-FC03-43E7-BD59-E1E6E429A03B}"/>
              </a:ext>
            </a:extLst>
          </p:cNvPr>
          <p:cNvPicPr>
            <a:picLocks noChangeAspect="1"/>
          </p:cNvPicPr>
          <p:nvPr/>
        </p:nvPicPr>
        <p:blipFill>
          <a:blip r:embed="R42850484584e4013"/>
          <a:stretch/>
        </p:blipFill>
        <p:spPr>
          <a:xfrm>
            <a:off x="8858250" y="40005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ns4:creationId val="1002529387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6168E41E-59C1-471E-89D1-A8374C378558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05 ／</a:t>
            </a:r>
          </a:p>
        </p:txBody>
      </p:sp>
      <p:sp>
        <p:nvSpPr>
          <p:cNvPr id="2" name="">
            <a:extLst>
              <a:ext uri="{FF2B5EF4-FFF2-40B4-BE49-F238E27FC236}">
                <ns2:creationId id="{22CE237D-9397-4ACA-ABD5-D6C9E6B1B30D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2B37D609-B3F9-4F79-9CAA-CA56AF31A879}"/>
              </a:ext>
            </a:extLst>
          </p:cNvPr>
          <p:cNvSpPr>
            <a:spLocks noGrp="1"/>
          </p:cNvSpPr>
          <p:nvPr/>
        </p:nvSpPr>
        <p:spPr>
          <a:xfrm>
            <a:off x="904875" y="1143000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《象棋的故事》</a:t>
            </a:r>
          </a:p>
        </p:txBody>
      </p:sp>
      <p:pic>
        <p:nvPicPr>
          <p:cNvPr id="4" name="">
            <a:extLst>
              <a:ext uri="{FF2B5EF4-FFF2-40B4-BE49-F238E27FC236}">
                <ns2:creationId id="{DD6DF7BE-D889-4AD5-8E4B-462EE3A0ED60}"/>
              </a:ext>
            </a:extLst>
          </p:cNvPr>
          <p:cNvPicPr>
            <a:picLocks noChangeAspect="1"/>
          </p:cNvPicPr>
          <p:nvPr/>
        </p:nvPicPr>
        <p:blipFill>
          <a:blip r:embed="Ra7c34af534024ddd"/>
          <a:stretch/>
        </p:blipFill>
        <p:spPr>
          <a:xfrm>
            <a:off x="1238622" y="2238375"/>
            <a:ext cx="2285256" cy="3524250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5B40DFE3-5B19-497E-BB41-538026CE8EA6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Reclam 版本书封</a:t>
            </a:r>
          </a:p>
        </p:txBody>
      </p:sp>
      <p:sp>
        <p:nvSpPr>
          <p:cNvPr id="6" name="">
            <a:extLst>
              <a:ext uri="{FF2B5EF4-FFF2-40B4-BE49-F238E27FC236}">
                <ns2:creationId id="{053C3903-A3EE-404D-AB15-D833BAD27FC8}"/>
              </a:ext>
            </a:extLst>
          </p:cNvPr>
          <p:cNvSpPr>
            <a:spLocks noGrp="1"/>
          </p:cNvSpPr>
          <p:nvPr/>
        </p:nvSpPr>
        <p:spPr>
          <a:xfrm>
            <a:off x="4572000" y="2238375"/>
            <a:ext cx="676275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纳粹统治时期，B博士被秘密警察长期隔离。</a:t>
            </a:r>
          </a:p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与外界几乎断绝联系时，他偶然获得一本国际象棋棋谱，</a:t>
            </a:r>
          </a:p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开始在头脑中反复推演，以抵抗精神上的空虚与折磨。</a:t>
            </a:r>
          </a:p>
        </p:txBody>
      </p:sp>
      <p:sp>
        <p:nvSpPr>
          <p:cNvPr id="7" name="">
            <a:extLst>
              <a:ext uri="{FF2B5EF4-FFF2-40B4-BE49-F238E27FC236}">
                <ns2:creationId id="{5EFF954D-F621-4A41-8161-8FD537C16B14}"/>
              </a:ext>
            </a:extLst>
          </p:cNvPr>
          <p:cNvSpPr>
            <a:spLocks noGrp="1"/>
          </p:cNvSpPr>
          <p:nvPr/>
        </p:nvSpPr>
        <p:spPr>
          <a:xfrm>
            <a:off x="4572000" y="4286250"/>
            <a:ext cx="67627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抵抗精神压迫的象棋，</a:t>
            </a:r>
          </a:p>
          <a:p>
            <a:pPr algn="l">
              <a:lnSpc>
                <a:spcPct val="120000"/>
              </a:lnSpc>
              <a:buNone/>
              <a:def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反而成了另一种精神折磨。</a:t>
            </a:r>
          </a:p>
        </p:txBody>
      </p:sp>
      <p:sp>
        <p:nvSpPr>
          <p:cNvPr id="8" name="">
            <a:extLst>
              <a:ext uri="{FF2B5EF4-FFF2-40B4-BE49-F238E27FC236}">
                <ns2:creationId id="{E2558B2F-45C1-4082-8602-E5A379E5FBBF}"/>
              </a:ext>
            </a:extLst>
          </p:cNvPr>
          <p:cNvSpPr>
            <a:spLocks noGrp="1"/>
          </p:cNvSpPr>
          <p:nvPr/>
        </p:nvSpPr>
        <p:spPr>
          <a:xfrm>
            <a:off x="4572000" y="5476875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随着推演不断深入，他逐渐陷入病态的自我对弈。</a:t>
            </a:r>
          </a:p>
        </p:txBody>
      </p:sp>
    </p:spTree>
    <p:extLst>
      <p:ext uri="{BB962C8B-B14F-4D97-AF65-F5344CB8AC3E}">
        <ns4:creationId val="170266249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3BC9620B-C5C6-4DB8-B56F-899F537984A4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06 ／</a:t>
            </a:r>
          </a:p>
        </p:txBody>
      </p:sp>
      <p:sp>
        <p:nvSpPr>
          <p:cNvPr id="2" name="">
            <a:extLst>
              <a:ext uri="{FF2B5EF4-FFF2-40B4-BE49-F238E27FC236}">
                <ns2:creationId id="{BE0ACCC8-C927-4346-982F-6A7FBD7D5856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9800050F-52F9-47E5-B513-EB89FE21D486}"/>
              </a:ext>
            </a:extLst>
          </p:cNvPr>
          <p:cNvSpPr>
            <a:spLocks noGrp="1"/>
          </p:cNvSpPr>
          <p:nvPr/>
        </p:nvSpPr>
        <p:spPr>
          <a:xfrm>
            <a:off x="904875" y="1143000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1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《棋王》</a:t>
            </a:r>
          </a:p>
        </p:txBody>
      </p:sp>
      <p:sp>
        <p:nvSpPr>
          <p:cNvPr id="4" name="">
            <a:extLst>
              <a:ext uri="{FF2B5EF4-FFF2-40B4-BE49-F238E27FC236}">
                <ns2:creationId id="{CFF76B45-4B25-46C1-90F0-3502C81F54EB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64770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阿城描写了中国特殊历史年代中，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一个名叫王一生的贫困知青。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他对下象棋有着近乎痴迷的热爱。</a:t>
            </a:r>
          </a:p>
        </p:txBody>
      </p:sp>
      <p:sp>
        <p:nvSpPr>
          <p:cNvPr id="5" name="">
            <a:extLst>
              <a:ext uri="{FF2B5EF4-FFF2-40B4-BE49-F238E27FC236}">
                <ns2:creationId id="{09B8456A-5369-4B8C-B946-EFF1D76FC96F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667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他非常重视吃饭，</a:t>
            </a:r>
          </a:p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也非常重视下棋。</a:t>
            </a:r>
          </a:p>
        </p:txBody>
      </p:sp>
      <p:pic>
        <p:nvPicPr>
          <p:cNvPr id="6" name="">
            <a:extLst>
              <a:ext uri="{FF2B5EF4-FFF2-40B4-BE49-F238E27FC236}">
                <ns2:creationId id="{846FA445-7230-487D-8C29-C82D1D210561}"/>
              </a:ext>
            </a:extLst>
          </p:cNvPr>
          <p:cNvPicPr>
            <a:picLocks noChangeAspect="1"/>
          </p:cNvPicPr>
          <p:nvPr/>
        </p:nvPicPr>
        <p:blipFill>
          <a:blip r:embed="R0993d54c50be44b5"/>
          <a:stretch/>
        </p:blipFill>
        <p:spPr>
          <a:xfrm>
            <a:off x="8563759" y="2095500"/>
            <a:ext cx="2351108" cy="3095625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A16C3A1E-ADC9-4413-931D-C8BA474CF430}"/>
              </a:ext>
            </a:extLst>
          </p:cNvPr>
          <p:cNvSpPr>
            <a:spLocks noGrp="1"/>
          </p:cNvSpPr>
          <p:nvPr/>
        </p:nvSpPr>
        <p:spPr>
          <a:xfrm>
            <a:off x="8143875" y="5191125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理想国版本书封</a:t>
            </a:r>
          </a:p>
        </p:txBody>
      </p:sp>
      <p:sp>
        <p:nvSpPr>
          <p:cNvPr id="8" name="">
            <a:extLst>
              <a:ext uri="{FF2B5EF4-FFF2-40B4-BE49-F238E27FC236}">
                <ns2:creationId id="{9A9636CB-E80D-42D9-B94D-3CEB0BE285D4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前者满足生存需要，后者构成不可缺少的精神追求。</a:t>
            </a:r>
          </a:p>
          <a:p>
            <a:pPr algn="l">
              <a:lnSpc>
                <a:spcPct val="132000"/>
              </a:lnSpc>
              <a:buNone/>
              <a:def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小说最后，他以一人之力同时与九名棋手对弈。</a:t>
            </a:r>
          </a:p>
        </p:txBody>
      </p:sp>
    </p:spTree>
    <p:extLst>
      <p:ext uri="{BB962C8B-B14F-4D97-AF65-F5344CB8AC3E}">
        <ns4:creationId val="6792338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6038884A-7AD9-420F-825B-5E34605332D9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07 ／</a:t>
            </a:r>
          </a:p>
        </p:txBody>
      </p:sp>
      <p:sp>
        <p:nvSpPr>
          <p:cNvPr id="2" name="">
            <a:extLst>
              <a:ext uri="{FF2B5EF4-FFF2-40B4-BE49-F238E27FC236}">
                <ns2:creationId id="{B0A941B7-81B5-4817-B769-07160F78030D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A1F4BFB1-27E2-4D43-B4FD-E99071DB108A}"/>
              </a:ext>
            </a:extLst>
          </p:cNvPr>
          <p:cNvSpPr>
            <a:spLocks noGrp="1"/>
          </p:cNvSpPr>
          <p:nvPr/>
        </p:nvSpPr>
        <p:spPr>
          <a:xfrm>
            <a:off x="904875" y="10477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8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两部小说的比较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AC6D8CE-D4A5-45F9-9E4B-E8C4B74F449F}"/>
              </a:ext>
            </a:extLst>
          </p:cNvPr>
          <p:cNvGraphicFramePr/>
          <p:nvPr/>
        </p:nvGraphicFramePr>
        <p:xfrm>
          <a:off x="904875" y="2190750"/>
          <a:ext cx="10382250" cy="3476625"/>
        </p:xfrm>
        <a:graphic>
          <a:graphicData uri="http://schemas.openxmlformats.org/drawingml/2006/table">
            <a:tbl>
              <a:tblPr firstRow="0" bandRow="0"/>
              <a:tblGrid>
                <a:gridCol w="1714500"/>
                <a:gridCol w="4238625"/>
                <a:gridCol w="4429125"/>
              </a:tblGrid>
              <a:tr h="619125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2100" spc="12" kern="1200">
                          <a:solidFill>
                            <a:srgbClr val="FAFAF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T w="6668">
                      <a:solidFill>
                        <a:srgbClr val="B9C4D0"/>
                      </a:solidFill>
                    </a:lnT>
                    <a:lnB w="6668">
                      <a:solidFill>
                        <a:srgbClr val="B9C4D0"/>
                      </a:solidFill>
                    </a:lnB>
                    <a:solidFill>
                      <a:srgbClr val="2148B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2100" spc="12" kern="1200">
                          <a:solidFill>
                            <a:srgbClr val="FAFAF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《象棋的故事》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T w="6668">
                      <a:solidFill>
                        <a:srgbClr val="B9C4D0"/>
                      </a:solidFill>
                    </a:lnT>
                    <a:lnB w="6668">
                      <a:solidFill>
                        <a:srgbClr val="B9C4D0"/>
                      </a:solidFill>
                    </a:lnB>
                    <a:solidFill>
                      <a:srgbClr val="2148B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2100" spc="12" kern="1200">
                          <a:solidFill>
                            <a:srgbClr val="FAFAF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《棋王》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T w="6668">
                      <a:solidFill>
                        <a:srgbClr val="B9C4D0"/>
                      </a:solidFill>
                    </a:lnT>
                    <a:lnB w="6668">
                      <a:solidFill>
                        <a:srgbClr val="B9C4D0"/>
                      </a:solidFill>
                    </a:lnB>
                    <a:solidFill>
                      <a:srgbClr val="2148B8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148B8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历史背景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纳粹统治与精神迫害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文革时期的知青生活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148B8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基本处境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精神被剥夺和禁锢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物质匮乏与生活受限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148B8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棋的意义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精神抵抗与自我保护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精神寄托与自我实现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148B8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深层矛盾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精神抵抗也可能成为精神伤害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物质生存与精神需求如何共存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148B8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人物结局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9C4D0"/>
                      </a:solidFill>
                    </a:lnL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B博士放弃继续下棋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>
                        <a:lnSpc>
                          <a:spcPct val="118000"/>
                        </a:lnSpc>
                        <a:buNone/>
                      </a:pPr>
                      <a:r>
                        <a:rPr sz="1875" spc="12" kern="1200">
                          <a:solidFill>
                            <a:srgbClr val="24333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王一生在对弈后获得精神上的震动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9C4D0"/>
                      </a:solidFill>
                    </a:lnR>
                    <a:lnB w="6668">
                      <a:solidFill>
                        <a:srgbClr val="B9C4D0"/>
                      </a:solidFill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892192424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73941E1F-DCC1-40EA-B769-1C69164E1B6C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08 ／</a:t>
            </a:r>
          </a:p>
        </p:txBody>
      </p:sp>
      <p:sp>
        <p:nvSpPr>
          <p:cNvPr id="2" name="">
            <a:extLst>
              <a:ext uri="{FF2B5EF4-FFF2-40B4-BE49-F238E27FC236}">
                <ns2:creationId id="{3C24F358-2885-46F3-87D2-80EE78947E90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34119EF8-A7D2-4669-B994-61C52029C82A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268D7735-9866-4A2B-9878-C0C223B47835}"/>
              </a:ext>
            </a:extLst>
          </p:cNvPr>
          <p:cNvSpPr>
            <a:spLocks noGrp="1"/>
          </p:cNvSpPr>
          <p:nvPr/>
        </p:nvSpPr>
        <p:spPr>
          <a:xfrm>
            <a:off x="952500" y="12858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rPr>
              <a:t>如果把时间拨回</a:t>
            </a:r>
          </a:p>
        </p:txBody>
      </p:sp>
      <p:sp>
        <p:nvSpPr>
          <p:cNvPr id="5" name="">
            <a:extLst>
              <a:ext uri="{FF2B5EF4-FFF2-40B4-BE49-F238E27FC236}">
                <ns2:creationId id="{6E25E4EE-7B75-4DF4-88E6-071EE66D9A75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42862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defPPr>
            <a:lvl1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1pPr>
            <a:lvl2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2pPr>
            <a:lvl3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3pPr>
            <a:lvl4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4pPr>
            <a:lvl5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5pPr>
            <a:lvl6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6pPr>
            <a:lvl7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7pPr>
            <a:lvl8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8pPr>
            <a:lvl9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9pPr>
          </a:lstStyle>
          <a:p>
            <a:pPr algn="l">
              <a:lnSpc>
                <a:spcPct val="132000"/>
              </a:lnSpc>
              <a:buNone/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pPr>
            <a:r>
              <a: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rPr>
              <a:t>1942</a:t>
            </a:r>
          </a:p>
        </p:txBody>
      </p:sp>
      <p:sp>
        <p:nvSpPr>
          <p:cNvPr id="6" name="">
            <a:extLst>
              <a:ext uri="{FF2B5EF4-FFF2-40B4-BE49-F238E27FC236}">
                <ns2:creationId id="{1B463B1A-D30C-4331-A6BF-771E3A741147}"/>
              </a:ext>
            </a:extLst>
          </p:cNvPr>
          <p:cNvSpPr>
            <a:spLocks noGrp="1"/>
          </p:cNvSpPr>
          <p:nvPr/>
        </p:nvSpPr>
        <p:spPr>
          <a:xfrm>
            <a:off x="6858000" y="2333625"/>
            <a:ext cx="42862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defPPr>
            <a:lvl1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1pPr>
            <a:lvl2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2pPr>
            <a:lvl3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3pPr>
            <a:lvl4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4pPr>
            <a:lvl5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5pPr>
            <a:lvl6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6pPr>
            <a:lvl7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7pPr>
            <a:lvl8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8pPr>
            <a:lvl9pPr algn="l"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9pPr>
          </a:lstStyle>
          <a:p>
            <a:pPr algn="l">
              <a:lnSpc>
                <a:spcPct val="132000"/>
              </a:lnSpc>
              <a:buNone/>
              <a:def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pPr>
            <a:r>
              <a:rPr sz="735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rPr>
              <a:t>1984</a:t>
            </a:r>
          </a:p>
        </p:txBody>
      </p:sp>
      <p:sp>
        <p:nvSpPr>
          <p:cNvPr id="7" name="">
            <a:extLst>
              <a:ext uri="{FF2B5EF4-FFF2-40B4-BE49-F238E27FC236}">
                <ns2:creationId id="{1B48E810-ECD2-4EE6-9621-DD3953C435F5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当这两部作品刚刚印成铅字、第一次出现在读者面前的时候，</a:t>
            </a:r>
          </a:p>
        </p:txBody>
      </p:sp>
      <p:sp>
        <p:nvSpPr>
          <p:cNvPr id="8" name="">
            <a:extLst>
              <a:ext uri="{FF2B5EF4-FFF2-40B4-BE49-F238E27FC236}">
                <ns2:creationId id="{D4A15751-4C8E-41A3-BED0-951E3CF1A9DF}"/>
              </a:ext>
            </a:extLst>
          </p:cNvPr>
          <p:cNvSpPr>
            <a:spLocks noGrp="1"/>
          </p:cNvSpPr>
          <p:nvPr/>
        </p:nvSpPr>
        <p:spPr>
          <a:xfrm>
            <a:off x="1047750" y="4810125"/>
            <a:ext cx="10096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它们就已经是我们今天所说的文学经典了吗？</a:t>
            </a:r>
          </a:p>
        </p:txBody>
      </p:sp>
    </p:spTree>
    <p:extLst>
      <p:ext uri="{BB962C8B-B14F-4D97-AF65-F5344CB8AC3E}">
        <ns3:creationId val="20193701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56922E64-CEEF-4422-9C62-E68644EDE342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09 ／</a:t>
            </a:r>
          </a:p>
        </p:txBody>
      </p:sp>
      <p:sp>
        <p:nvSpPr>
          <p:cNvPr id="2" name="">
            <a:extLst>
              <a:ext uri="{FF2B5EF4-FFF2-40B4-BE49-F238E27FC236}">
                <ns2:creationId id="{90A7266F-F60D-409D-BA02-187D8BFA7901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C1934FC8-4084-4A85-85E8-C61E87D54BE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0BCF2762-A94B-44D2-9646-951EA0B1EF5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FAF2B8AE-F68D-44F0-B99B-EBB3258254E4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A01EF52A-B5E0-45E0-9668-EC942A2DBC80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C4387A37-CCDC-43FE-99ED-39EC86D9BD2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CB00A121-AF9C-4BC8-9265-4E2177550FEC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DD7DA82D-741A-41AF-B2FA-467360EEC971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15A40772-41DB-4BBE-97EC-BA70BB69FC5F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0F3CC1DA-7C58-452C-8A78-CBA4A8B51BE5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103822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二、经典是与生俱来的吗？</a:t>
            </a:r>
          </a:p>
        </p:txBody>
      </p:sp>
      <p:pic>
        <p:nvPicPr>
          <p:cNvPr id="12" name="">
            <a:extLst>
              <a:ext uri="{FF2B5EF4-FFF2-40B4-BE49-F238E27FC236}">
                <ns2:creationId id="{B5F259FF-2666-4608-B185-86BD2952FA90}"/>
              </a:ext>
            </a:extLst>
          </p:cNvPr>
          <p:cNvPicPr>
            <a:picLocks noChangeAspect="1"/>
          </p:cNvPicPr>
          <p:nvPr/>
        </p:nvPicPr>
        <p:blipFill>
          <a:blip r:embed="Rddff3e05f28542e5"/>
          <a:stretch/>
        </p:blipFill>
        <p:spPr>
          <a:xfrm>
            <a:off x="8929688" y="40481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ns4:creationId val="178859050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1F5384C5-3DFA-4A9E-AA71-48E56E4DC2AE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10 ／</a:t>
            </a:r>
          </a:p>
        </p:txBody>
      </p:sp>
      <p:sp>
        <p:nvSpPr>
          <p:cNvPr id="2" name="">
            <a:extLst>
              <a:ext uri="{FF2B5EF4-FFF2-40B4-BE49-F238E27FC236}">
                <ns2:creationId id="{C7D6C675-0809-4FB0-A042-BCFF3661DC18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D0EE9600-1228-4F91-9C77-B3D54E443F22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B57B6477-A001-49C9-B462-2A19B7BE8BC0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童庆炳，2005年</a:t>
            </a:r>
          </a:p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《文学经典建构诸因素及其关系》</a:t>
            </a:r>
          </a:p>
        </p:txBody>
      </p:sp>
      <p:sp>
        <p:nvSpPr>
          <p:cNvPr id="5" name="">
            <a:extLst>
              <a:ext uri="{FF2B5EF4-FFF2-40B4-BE49-F238E27FC236}">
                <ns2:creationId id="{61331DF1-EE8C-4DEA-BB02-569C7725EF49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10287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“文学经典是一个</a:t>
            </a:r>
          </a:p>
          <a:p>
            <a:pPr algn="l">
              <a:lnSpc>
                <a:spcPct val="120000"/>
              </a:lnSpc>
              <a:buNone/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不断地建构过程。”</a:t>
            </a:r>
          </a:p>
        </p:txBody>
      </p:sp>
    </p:spTree>
    <p:extLst>
      <p:ext uri="{BB962C8B-B14F-4D97-AF65-F5344CB8AC3E}">
        <ns3:creationId val="175233385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FEE1B1B2-2470-4D87-B3FC-A80E02A893D6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11 ／</a:t>
            </a:r>
          </a:p>
        </p:txBody>
      </p:sp>
      <p:sp>
        <p:nvSpPr>
          <p:cNvPr id="2" name="">
            <a:extLst>
              <a:ext uri="{FF2B5EF4-FFF2-40B4-BE49-F238E27FC236}">
                <ns2:creationId id="{EB18BED4-DA6C-4B90-8488-92A59D2ABAE3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67F706EA-E1A3-4EC2-B3EE-1BA7555B1E7C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0287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7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所谓经典，</a:t>
            </a:r>
          </a:p>
        </p:txBody>
      </p:sp>
      <p:sp>
        <p:nvSpPr>
          <p:cNvPr id="4" name="">
            <a:extLst>
              <a:ext uri="{FF2B5EF4-FFF2-40B4-BE49-F238E27FC236}">
                <ns2:creationId id="{8F18A0D7-D7C1-4EBD-8CAC-592632F7404F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不是作品一诞生便天然拥有的身份，</a:t>
            </a:r>
          </a:p>
        </p:txBody>
      </p:sp>
      <p:sp>
        <p:nvSpPr>
          <p:cNvPr id="5" name="">
            <a:extLst>
              <a:ext uri="{FF2B5EF4-FFF2-40B4-BE49-F238E27FC236}">
                <ns2:creationId id="{9263E552-8A0A-49B3-B2B7-B4044AE84100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102870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而是作品自身的艺术品质与历史中的</a:t>
            </a:r>
          </a:p>
          <a:p>
            <a:pPr algn="l">
              <a:lnSpc>
                <a:spcPct val="120000"/>
              </a:lnSpc>
              <a:buNone/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传播、阅读、评价不断发生作用的结果。</a:t>
            </a:r>
          </a:p>
        </p:txBody>
      </p:sp>
    </p:spTree>
    <p:extLst>
      <p:ext uri="{BB962C8B-B14F-4D97-AF65-F5344CB8AC3E}">
        <ns3:creationId val="98913777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AAB16047-B2A6-4B68-8783-BEB05FF2FD9C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12 ／</a:t>
            </a:r>
          </a:p>
        </p:txBody>
      </p:sp>
      <p:sp>
        <p:nvSpPr>
          <p:cNvPr id="2" name="">
            <a:extLst>
              <a:ext uri="{FF2B5EF4-FFF2-40B4-BE49-F238E27FC236}">
                <ns2:creationId id="{39C47BBA-214C-4D10-94B8-6B4DAA195B87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E81C40FB-B903-4843-B4B9-D2755999FF6B}"/>
              </a:ext>
            </a:extLst>
          </p:cNvPr>
          <p:cNvSpPr>
            <a:spLocks noGrp="1"/>
          </p:cNvSpPr>
          <p:nvPr/>
        </p:nvSpPr>
        <p:spPr>
          <a:xfrm>
            <a:off x="904875" y="100012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《棋王》的发表与阐释</a:t>
            </a:r>
          </a:p>
        </p:txBody>
      </p:sp>
      <p:sp>
        <p:nvSpPr>
          <p:cNvPr id="4" name="">
            <a:extLst>
              <a:ext uri="{FF2B5EF4-FFF2-40B4-BE49-F238E27FC236}">
                <ns2:creationId id="{2EF2DEF9-624F-4E27-ABDF-46DC0C94670B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它最初的发表并不顺利，曾经被《北京文学》以“写了知青生活的阴暗面”为由退稿，发表时还修改了原本可能显得有些不够“积极”的结尾。</a:t>
            </a:r>
          </a:p>
        </p:txBody>
      </p:sp>
      <p:sp>
        <p:nvSpPr>
          <p:cNvPr id="5" name="">
            <a:extLst>
              <a:ext uri="{FF2B5EF4-FFF2-40B4-BE49-F238E27FC236}">
                <ns2:creationId id="{59C9B896-D018-41C1-9C33-8392B7309158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102870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批评家们先是从“知青文学”的视角入手，直到“杭州会议”[1]之后，因为作品本身所具有的“传奇”性质，而被纳入到“寻根文学”的理论建构之中，进而阿城自己亦开始参与到将其从“知青文学”中剥离的表述之中。</a:t>
            </a:r>
          </a:p>
        </p:txBody>
      </p:sp>
    </p:spTree>
    <p:extLst>
      <p:ext uri="{BB962C8B-B14F-4D97-AF65-F5344CB8AC3E}">
        <ns3:creationId val="19324672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F3992428-D1F7-4071-ADA0-EA33E6A3F5B9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13 ／</a:t>
            </a:r>
          </a:p>
        </p:txBody>
      </p:sp>
      <p:sp>
        <p:nvSpPr>
          <p:cNvPr id="2" name="">
            <a:extLst>
              <a:ext uri="{FF2B5EF4-FFF2-40B4-BE49-F238E27FC236}">
                <ns2:creationId id="{19956DAA-FA9A-46C6-AAD6-A810DBD466A5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769ADED2-4311-42A4-B53C-0FEC1AF08431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5C87369D-BA8E-4CF3-B91D-15989824E5F4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rPr>
              <a:t>从艺术成就来看，</a:t>
            </a:r>
          </a:p>
        </p:txBody>
      </p:sp>
      <p:sp>
        <p:nvSpPr>
          <p:cNvPr id="5" name="">
            <a:extLst>
              <a:ext uri="{FF2B5EF4-FFF2-40B4-BE49-F238E27FC236}">
                <ns2:creationId id="{D1D041F6-CEE7-45D1-8DD7-EBE66B3D4630}"/>
              </a:ext>
            </a:extLst>
          </p:cNvPr>
          <p:cNvSpPr>
            <a:spLocks noGrp="1"/>
          </p:cNvSpPr>
          <p:nvPr/>
        </p:nvSpPr>
        <p:spPr>
          <a:xfrm>
            <a:off x="1143000" y="3190875"/>
            <a:ext cx="990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文学经典常常体现出</a:t>
            </a:r>
          </a:p>
          <a:p>
            <a:pPr algn="ctr">
              <a:lnSpc>
                <a:spcPct val="120000"/>
              </a:lnSpc>
              <a:buNone/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两种相互联系的创造方式。</a:t>
            </a:r>
          </a:p>
        </p:txBody>
      </p:sp>
    </p:spTree>
    <p:extLst>
      <p:ext uri="{BB962C8B-B14F-4D97-AF65-F5344CB8AC3E}">
        <ns3:creationId val="147981443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44EF82FA-C67C-496F-BA0B-91ECB4CB01D4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14 ／</a:t>
            </a:r>
          </a:p>
        </p:txBody>
      </p:sp>
      <p:sp>
        <p:nvSpPr>
          <p:cNvPr id="2" name="">
            <a:extLst>
              <a:ext uri="{FF2B5EF4-FFF2-40B4-BE49-F238E27FC236}">
                <ns2:creationId id="{6F73CB89-DC59-40D6-A38E-7D75E8B22906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0B8DC97E-32B4-4B1E-BA8E-6A90C5C97D0D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26E51A11-1CD1-4276-8DCE-DC80467826A8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0CAC5F91-38CB-4FDA-82D8-D9273862589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B8586582-F15C-4E08-BAF5-D8954B6E83DA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587CEB99-D4A4-46B5-A069-95697736BD9E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F2188FA5-8659-4384-98CF-BD1DCC726293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32CF0EA6-A5D8-48F3-8AB4-4C6DE1E897C2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F1378E39-5A03-4035-9342-401C607B436A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3D8E405B-6CC2-42F9-877D-D3CB08D7B4C1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762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开拓</a:t>
            </a:r>
          </a:p>
        </p:txBody>
      </p:sp>
      <p:sp>
        <p:nvSpPr>
          <p:cNvPr id="12" name="">
            <a:extLst>
              <a:ext uri="{FF2B5EF4-FFF2-40B4-BE49-F238E27FC236}">
                <ns2:creationId id="{74685395-036F-4EAB-AF18-CFB2D2D51976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4476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在既有传统之外</a:t>
            </a:r>
          </a:p>
          <a:p>
            <a:pPr algn="l">
              <a:lnSpc>
                <a:spcPct val="132000"/>
              </a:lnSpc>
              <a:buNone/>
              <a:def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创造新的艺术可能。</a:t>
            </a:r>
          </a:p>
        </p:txBody>
      </p:sp>
      <p:sp>
        <p:nvSpPr>
          <p:cNvPr id="13" name="">
            <a:extLst>
              <a:ext uri="{FF2B5EF4-FFF2-40B4-BE49-F238E27FC236}">
                <ns2:creationId id="{2651368C-00A4-4A32-A121-7A1BDBAD519E}"/>
              </a:ext>
            </a:extLst>
          </p:cNvPr>
          <p:cNvSpPr>
            <a:spLocks noGrp="1"/>
          </p:cNvSpPr>
          <p:nvPr/>
        </p:nvSpPr>
        <p:spPr>
          <a:xfrm>
            <a:off x="6715125" y="2857500"/>
            <a:ext cx="4667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1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综合</a:t>
            </a:r>
          </a:p>
        </p:txBody>
      </p:sp>
      <p:sp>
        <p:nvSpPr>
          <p:cNvPr id="14" name="">
            <a:extLst>
              <a:ext uri="{FF2B5EF4-FFF2-40B4-BE49-F238E27FC236}">
                <ns2:creationId id="{5B1722CB-26A0-405B-8798-21838540166A}"/>
              </a:ext>
            </a:extLst>
          </p:cNvPr>
          <p:cNvSpPr>
            <a:spLocks noGrp="1"/>
          </p:cNvSpPr>
          <p:nvPr/>
        </p:nvSpPr>
        <p:spPr>
          <a:xfrm>
            <a:off x="6762750" y="400050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把已有的语言、形式和思想资源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重新组织，形成成熟而独特的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艺术表达。</a:t>
            </a:r>
          </a:p>
        </p:txBody>
      </p:sp>
    </p:spTree>
    <p:extLst>
      <p:ext uri="{BB962C8B-B14F-4D97-AF65-F5344CB8AC3E}">
        <ns3:creationId val="666394904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F7EA1505-A794-47C7-84D2-355256D12D68}"/>
              </a:ext>
            </a:extLst>
          </p:cNvPr>
          <p:cNvSpPr>
            <a:spLocks noGrp="1"/>
          </p:cNvSpPr>
          <p:nvPr/>
        </p:nvSpPr>
        <p:spPr>
          <a:xfrm>
            <a:off x="571500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15 ／</a:t>
            </a:r>
          </a:p>
        </p:txBody>
      </p:sp>
      <p:sp>
        <p:nvSpPr>
          <p:cNvPr id="2" name="">
            <a:extLst>
              <a:ext uri="{FF2B5EF4-FFF2-40B4-BE49-F238E27FC236}">
                <ns2:creationId id="{91E192FF-281B-4EC8-A5DA-4CD77CDDC0C3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8313B488-612D-41B7-B1D0-A33393F810F3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416D5C91-2A24-44EB-B00E-20D3598E08A4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4A4745F9-F372-48CF-A569-AB0777E06AF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545DE6FB-F5A8-4E99-905E-2A9D5B4F960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F5659854-4DC6-4FD3-AD73-C166D57B6628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1574A0F5-A71A-470D-8F64-49B7D1DF4850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B1122156-4FDF-4102-81B6-7D033C2D368E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DB143901-1549-4B50-97AF-4CAF632E8565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B0981D28-7010-4DE5-911E-772C456614D5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667500" cy="190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三、茨威格</a:t>
            </a:r>
          </a:p>
          <a:p>
            <a:pPr algn="l">
              <a:lnSpc>
                <a:spcPct val="120000"/>
              </a:lnSpc>
              <a:buNone/>
              <a:def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究竟有多伟大？</a:t>
            </a:r>
          </a:p>
        </p:txBody>
      </p:sp>
      <p:pic>
        <p:nvPicPr>
          <p:cNvPr id="12" name="">
            <a:extLst>
              <a:ext uri="{FF2B5EF4-FFF2-40B4-BE49-F238E27FC236}">
                <ns2:creationId id="{76523DC4-15C9-4D8B-B744-70285DB9A33F}"/>
              </a:ext>
            </a:extLst>
          </p:cNvPr>
          <p:cNvPicPr>
            <a:picLocks noChangeAspect="1"/>
          </p:cNvPicPr>
          <p:nvPr/>
        </p:nvPicPr>
        <p:blipFill>
          <a:blip r:embed="R9c0c3c8e8a4c458c"/>
          <a:stretch/>
        </p:blipFill>
        <p:spPr>
          <a:xfrm>
            <a:off x="7528792" y="1809750"/>
            <a:ext cx="4040040" cy="5048250"/>
          </a:xfrm>
          <a:prstGeom prst="rect">
            <a:avLst/>
          </a:prstGeom>
        </p:spPr>
      </p:pic>
    </p:spTree>
    <p:extLst>
      <p:ext uri="{BB962C8B-B14F-4D97-AF65-F5344CB8AC3E}">
        <ns4:creationId val="1015880069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A793497E-2380-40D5-91D5-AF1DE9A166F9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16 ／</a:t>
            </a:r>
          </a:p>
        </p:txBody>
      </p:sp>
      <p:sp>
        <p:nvSpPr>
          <p:cNvPr id="2" name="">
            <a:extLst>
              <a:ext uri="{FF2B5EF4-FFF2-40B4-BE49-F238E27FC236}">
                <ns2:creationId id="{73CE1AAE-364E-44CF-8F88-B5CE9CF755E1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506EC1E4-2A93-4260-A860-C0ED0DA6D5EC}"/>
              </a:ext>
            </a:extLst>
          </p:cNvPr>
          <p:cNvSpPr>
            <a:spLocks noGrp="1"/>
          </p:cNvSpPr>
          <p:nvPr/>
        </p:nvSpPr>
        <p:spPr>
          <a:xfrm>
            <a:off x="952500" y="114300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如果把茨威格重新放回</a:t>
            </a:r>
          </a:p>
          <a:p>
            <a:pPr algn="l">
              <a:lnSpc>
                <a:spcPct val="132000"/>
              </a:lnSpc>
              <a:buNone/>
              <a:def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20世纪上半叶的德语文学世界，</a:t>
            </a:r>
          </a:p>
        </p:txBody>
      </p:sp>
      <p:sp>
        <p:nvSpPr>
          <p:cNvPr id="4" name="">
            <a:extLst>
              <a:ext uri="{FF2B5EF4-FFF2-40B4-BE49-F238E27FC236}">
                <ns2:creationId id="{CCD39EA4-364A-4D5E-B18D-537067624EE0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925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rPr>
              <a:t>那个时代，还有</a:t>
            </a:r>
          </a:p>
        </p:txBody>
      </p:sp>
      <p:pic>
        <p:nvPicPr>
          <p:cNvPr id="5" name="">
            <a:extLst>
              <a:ext uri="{FF2B5EF4-FFF2-40B4-BE49-F238E27FC236}">
                <ns2:creationId id="{FA38E3B4-0ABD-4B37-BAD8-0C881DD8EB39}"/>
              </a:ext>
            </a:extLst>
          </p:cNvPr>
          <p:cNvPicPr>
            <a:picLocks noChangeAspect="1"/>
          </p:cNvPicPr>
          <p:nvPr/>
        </p:nvPicPr>
        <p:blipFill>
          <a:blip r:embed="R7bf0c6ce3508490c"/>
          <a:srcRect l="4345" t="0" r="4345" b="0"/>
          <a:stretch>
            <a:fillRect l="0" t="0" r="0" b="0"/>
          </a:stretch>
        </p:blipFill>
        <p:spPr>
          <a:xfrm>
            <a:off x="904875" y="3095625"/>
            <a:ext cx="1333500" cy="195262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5B574264-B0E4-433C-B7E4-E77966E93D62}"/>
              </a:ext>
            </a:extLst>
          </p:cNvPr>
          <p:cNvSpPr>
            <a:spLocks noGrp="1"/>
          </p:cNvSpPr>
          <p:nvPr/>
        </p:nvSpPr>
        <p:spPr>
          <a:xfrm>
            <a:off x="866775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托马斯·曼</a:t>
            </a:r>
          </a:p>
        </p:txBody>
      </p:sp>
      <p:pic>
        <p:nvPicPr>
          <p:cNvPr id="7" name="">
            <a:extLst>
              <a:ext uri="{FF2B5EF4-FFF2-40B4-BE49-F238E27FC236}">
                <ns2:creationId id="{9B11D305-08DB-4DF9-91DA-38DFEB9FED00}"/>
              </a:ext>
            </a:extLst>
          </p:cNvPr>
          <p:cNvPicPr>
            <a:picLocks noChangeAspect="1"/>
          </p:cNvPicPr>
          <p:nvPr/>
        </p:nvPicPr>
        <p:blipFill>
          <a:blip r:embed="Rc599920f79574896"/>
          <a:srcRect l="4472" t="0" r="4472" b="0"/>
          <a:stretch>
            <a:fillRect l="0" t="0" r="0" b="0"/>
          </a:stretch>
        </p:blipFill>
        <p:spPr>
          <a:xfrm>
            <a:off x="2400300" y="3095625"/>
            <a:ext cx="1333500" cy="1952625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7F087A38-ADC2-4638-B823-B7B4A937034A}"/>
              </a:ext>
            </a:extLst>
          </p:cNvPr>
          <p:cNvSpPr>
            <a:spLocks noGrp="1"/>
          </p:cNvSpPr>
          <p:nvPr/>
        </p:nvSpPr>
        <p:spPr>
          <a:xfrm>
            <a:off x="2362200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卡夫卡</a:t>
            </a:r>
          </a:p>
        </p:txBody>
      </p:sp>
      <p:pic>
        <p:nvPicPr>
          <p:cNvPr id="9" name="">
            <a:extLst>
              <a:ext uri="{FF2B5EF4-FFF2-40B4-BE49-F238E27FC236}">
                <ns2:creationId id="{7E13B372-B51E-4FE8-BC2A-88930DAF48BB}"/>
              </a:ext>
            </a:extLst>
          </p:cNvPr>
          <p:cNvPicPr>
            <a:picLocks noChangeAspect="1"/>
          </p:cNvPicPr>
          <p:nvPr/>
        </p:nvPicPr>
        <p:blipFill>
          <a:blip r:embed="Rc938971faeba4314"/>
          <a:srcRect l="1707" t="0" r="1707" b="0"/>
          <a:stretch>
            <a:fillRect l="0" t="0" r="0" b="0"/>
          </a:stretch>
        </p:blipFill>
        <p:spPr>
          <a:xfrm>
            <a:off x="3895725" y="3095625"/>
            <a:ext cx="1333500" cy="195262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D2CFBDAD-41F2-4534-985E-D3ED450E5B52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黑塞</a:t>
            </a:r>
          </a:p>
        </p:txBody>
      </p:sp>
      <p:pic>
        <p:nvPicPr>
          <p:cNvPr id="11" name="">
            <a:extLst>
              <a:ext uri="{FF2B5EF4-FFF2-40B4-BE49-F238E27FC236}">
                <ns2:creationId id="{10F59647-0247-4763-9486-AD60958B49CF}"/>
              </a:ext>
            </a:extLst>
          </p:cNvPr>
          <p:cNvPicPr>
            <a:picLocks noChangeAspect="1"/>
          </p:cNvPicPr>
          <p:nvPr/>
        </p:nvPicPr>
        <p:blipFill>
          <a:blip r:embed="R04e7195ca75640ed"/>
          <a:srcRect l="1472" t="0" r="1472" b="0"/>
          <a:stretch>
            <a:fillRect l="0" t="0" r="0" b="0"/>
          </a:stretch>
        </p:blipFill>
        <p:spPr>
          <a:xfrm>
            <a:off x="5391150" y="3095625"/>
            <a:ext cx="1333500" cy="1952625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79DA16FC-0745-435A-A6DD-96BBD35BCAD0}"/>
              </a:ext>
            </a:extLst>
          </p:cNvPr>
          <p:cNvSpPr>
            <a:spLocks noGrp="1"/>
          </p:cNvSpPr>
          <p:nvPr/>
        </p:nvSpPr>
        <p:spPr>
          <a:xfrm>
            <a:off x="5353050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德布林</a:t>
            </a:r>
          </a:p>
        </p:txBody>
      </p:sp>
      <p:pic>
        <p:nvPicPr>
          <p:cNvPr id="13" name="">
            <a:extLst>
              <a:ext uri="{FF2B5EF4-FFF2-40B4-BE49-F238E27FC236}">
                <ns2:creationId id="{7BACFC98-9414-4F9C-BC5A-4F9EB5EC57EB}"/>
              </a:ext>
            </a:extLst>
          </p:cNvPr>
          <p:cNvPicPr>
            <a:picLocks noChangeAspect="1"/>
          </p:cNvPicPr>
          <p:nvPr/>
        </p:nvPicPr>
        <p:blipFill>
          <a:blip r:embed="R4d247471b6fd4006"/>
          <a:srcRect l="1304" t="0" r="1304" b="0"/>
          <a:stretch>
            <a:fillRect l="0" t="0" r="0" b="0"/>
          </a:stretch>
        </p:blipFill>
        <p:spPr>
          <a:xfrm>
            <a:off x="6886575" y="3095625"/>
            <a:ext cx="1333500" cy="1952625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ns2:creationId id="{BBA55F1D-D9E1-4947-84CF-DBF71AA47F1D}"/>
              </a:ext>
            </a:extLst>
          </p:cNvPr>
          <p:cNvSpPr>
            <a:spLocks noGrp="1"/>
          </p:cNvSpPr>
          <p:nvPr/>
        </p:nvSpPr>
        <p:spPr>
          <a:xfrm>
            <a:off x="6848475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穆齐尔</a:t>
            </a:r>
          </a:p>
        </p:txBody>
      </p:sp>
      <p:pic>
        <p:nvPicPr>
          <p:cNvPr id="15" name="">
            <a:extLst>
              <a:ext uri="{FF2B5EF4-FFF2-40B4-BE49-F238E27FC236}">
                <ns2:creationId id="{5E8DA0DD-D64F-44FF-A284-E5D002358D14}"/>
              </a:ext>
            </a:extLst>
          </p:cNvPr>
          <p:cNvPicPr>
            <a:picLocks noChangeAspect="1"/>
          </p:cNvPicPr>
          <p:nvPr/>
        </p:nvPicPr>
        <p:blipFill>
          <a:blip r:embed="R2d8addff5223409d"/>
          <a:srcRect l="0" t="84" r="0" b="84"/>
          <a:stretch>
            <a:fillRect l="0" t="0" r="0" b="0"/>
          </a:stretch>
        </p:blipFill>
        <p:spPr>
          <a:xfrm>
            <a:off x="8382000" y="3095625"/>
            <a:ext cx="1333500" cy="1952625"/>
          </a:xfrm>
          <a:prstGeom prst="rect">
            <a:avLst/>
          </a:prstGeom>
        </p:spPr>
      </p:pic>
      <p:sp>
        <p:nvSpPr>
          <p:cNvPr id="16" name="">
            <a:extLst>
              <a:ext uri="{FF2B5EF4-FFF2-40B4-BE49-F238E27FC236}">
                <ns2:creationId id="{B85160C9-6A2D-43D6-87B7-7D8939E5CE61}"/>
              </a:ext>
            </a:extLst>
          </p:cNvPr>
          <p:cNvSpPr>
            <a:spLocks noGrp="1"/>
          </p:cNvSpPr>
          <p:nvPr/>
        </p:nvSpPr>
        <p:spPr>
          <a:xfrm>
            <a:off x="8343900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布洛赫</a:t>
            </a:r>
          </a:p>
        </p:txBody>
      </p:sp>
      <p:pic>
        <p:nvPicPr>
          <p:cNvPr id="17" name="">
            <a:extLst>
              <a:ext uri="{FF2B5EF4-FFF2-40B4-BE49-F238E27FC236}">
                <ns2:creationId id="{BB08ECC2-CB80-4E43-A39C-135E130310E7}"/>
              </a:ext>
            </a:extLst>
          </p:cNvPr>
          <p:cNvPicPr>
            <a:picLocks noChangeAspect="1"/>
          </p:cNvPicPr>
          <p:nvPr/>
        </p:nvPicPr>
        <p:blipFill>
          <a:blip r:embed="R8d1589b96bc84747"/>
          <a:srcRect l="9609" t="0" r="9609" b="0"/>
          <a:stretch>
            <a:fillRect l="0" t="0" r="0" b="0"/>
          </a:stretch>
        </p:blipFill>
        <p:spPr>
          <a:xfrm>
            <a:off x="9877425" y="3095625"/>
            <a:ext cx="1333500" cy="1952625"/>
          </a:xfrm>
          <a:prstGeom prst="rect">
            <a:avLst/>
          </a:prstGeom>
        </p:spPr>
      </p:pic>
      <p:sp>
        <p:nvSpPr>
          <p:cNvPr id="18" name="">
            <a:extLst>
              <a:ext uri="{FF2B5EF4-FFF2-40B4-BE49-F238E27FC236}">
                <ns2:creationId id="{3B2DC233-BD06-41E8-9B8D-A1BEA1DF7AF4}"/>
              </a:ext>
            </a:extLst>
          </p:cNvPr>
          <p:cNvSpPr>
            <a:spLocks noGrp="1"/>
          </p:cNvSpPr>
          <p:nvPr/>
        </p:nvSpPr>
        <p:spPr>
          <a:xfrm>
            <a:off x="9839325" y="5191125"/>
            <a:ext cx="1409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ctr">
              <a:lnSpc>
                <a:spcPct val="132000"/>
              </a:lnSpc>
              <a:buNone/>
              <a:def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148B8"/>
                </a:solidFill>
                <a:latin typeface="Source Han Sans SC"/>
                <a:ea typeface="Source Han Sans SC"/>
                <a:cs typeface="Source Han Sans SC"/>
              </a:rPr>
              <a:t>施尼茨勒</a:t>
            </a:r>
          </a:p>
        </p:txBody>
      </p:sp>
      <p:sp>
        <p:nvSpPr>
          <p:cNvPr id="19" name="">
            <a:extLst>
              <a:ext uri="{FF2B5EF4-FFF2-40B4-BE49-F238E27FC236}">
                <ns2:creationId id="{8DFFE37D-6046-4975-8714-F77858C01AED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一批极具成就的作家。</a:t>
            </a:r>
          </a:p>
        </p:txBody>
      </p:sp>
    </p:spTree>
    <p:extLst>
      <p:ext uri="{BB962C8B-B14F-4D97-AF65-F5344CB8AC3E}">
        <ns4:creationId val="1749199507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2148B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8B6C54CE-9E8C-4BA8-9113-A8C4469F7121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FAFAF7"/>
                </a:solidFill>
                <a:latin typeface="Source Han Sans SC"/>
                <a:ea typeface="Source Han Sans SC"/>
                <a:cs typeface="Source Han Sans SC"/>
              </a:rPr>
              <a:t>17 ／</a:t>
            </a:r>
          </a:p>
        </p:txBody>
      </p:sp>
      <p:sp>
        <p:nvSpPr>
          <p:cNvPr id="2" name="">
            <a:extLst>
              <a:ext uri="{FF2B5EF4-FFF2-40B4-BE49-F238E27FC236}">
                <ns2:creationId id="{9B37601E-A02F-4F04-B29D-D9BB0AD67C73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CAD6FF"/>
            </a:solidFill>
          </a:ln>
        </p:spPr>
      </p:sp>
      <p:sp>
        <p:nvSpPr>
          <p:cNvPr id="3" name="">
            <a:extLst>
              <a:ext uri="{FF2B5EF4-FFF2-40B4-BE49-F238E27FC236}">
                <ns2:creationId id="{3373724A-B1E6-4F95-8175-6D5B4B677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ns2:creationId id="{3E290B3B-FD6F-4108-A9F6-9C99E9233BE1}"/>
              </a:ext>
            </a:extLst>
          </p:cNvPr>
          <p:cNvSpPr>
            <a:spLocks noGrp="1"/>
          </p:cNvSpPr>
          <p:nvPr/>
        </p:nvSpPr>
        <p:spPr>
          <a:xfrm>
            <a:off x="1000125" y="1476375"/>
            <a:ext cx="1028700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rPr>
              <a:t>既然这些作品具有独特的文学价值，</a:t>
            </a:r>
          </a:p>
          <a:p>
            <a:pPr algn="l">
              <a:lnSpc>
                <a:spcPct val="120000"/>
              </a:lnSpc>
              <a:buNone/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rPr>
              <a:t>为什么今天的我们第一次阅读它们时，</a:t>
            </a:r>
          </a:p>
          <a:p>
            <a:pPr algn="l">
              <a:lnSpc>
                <a:spcPct val="120000"/>
              </a:lnSpc>
              <a:buNone/>
              <a:def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spc="12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rPr>
              <a:t>有时候反而会觉得——</a:t>
            </a:r>
          </a:p>
        </p:txBody>
      </p:sp>
      <p:sp>
        <p:nvSpPr>
          <p:cNvPr id="5" name="">
            <a:extLst>
              <a:ext uri="{FF2B5EF4-FFF2-40B4-BE49-F238E27FC236}">
                <ns2:creationId id="{D412B984-D1E8-457F-AAF2-BEA68E951785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7650" spc="60" kern="1200">
                <a:solidFill>
                  <a:srgbClr val="FAFAF7"/>
                </a:solidFill>
                <a:latin typeface="Noto Serif CJK SC"/>
                <a:ea typeface="Noto Serif CJK SC"/>
                <a:cs typeface="Noto Serif CJK SC"/>
              </a:rPr>
              <a:t>不过如此？</a:t>
            </a:r>
          </a:p>
        </p:txBody>
      </p:sp>
    </p:spTree>
    <p:extLst>
      <p:ext uri="{BB962C8B-B14F-4D97-AF65-F5344CB8AC3E}">
        <ns3:creationId val="698004118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AFE61801-5F88-4300-A2A8-EB757F7F6D95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18 ／</a:t>
            </a:r>
          </a:p>
        </p:txBody>
      </p:sp>
      <p:sp>
        <p:nvSpPr>
          <p:cNvPr id="2" name="">
            <a:extLst>
              <a:ext uri="{FF2B5EF4-FFF2-40B4-BE49-F238E27FC236}">
                <ns2:creationId id="{4BF06518-2180-41B3-8020-3C7A4DDE08C2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784274E3-EB32-4167-A675-1E006FA7D94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5002DB9A-5660-4743-B958-50AD66ACF063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DB7C74EF-5E3F-4645-8E65-F531D31655A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24ACE65A-691D-42CD-8A4E-D84867473652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F2CF9394-683F-40E9-8908-D80B4BA84DF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A474784F-9912-4561-8FB3-3889A8932A9F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C131310D-C678-4D99-B416-9AF5BA0EF460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8159DBA3-1E7F-4AC3-8DA5-F5128A4F72D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6B1B6DBA-25C1-443A-A06B-E519264697E5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103822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四、为什么经典不再令人惊艳？</a:t>
            </a:r>
          </a:p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甚至无聊？</a:t>
            </a:r>
          </a:p>
        </p:txBody>
      </p:sp>
    </p:spTree>
    <p:extLst>
      <p:ext uri="{BB962C8B-B14F-4D97-AF65-F5344CB8AC3E}">
        <ns3:creationId val="880962282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689F8631-3B09-4E5A-9587-2FE9B2335292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19 ／</a:t>
            </a:r>
          </a:p>
        </p:txBody>
      </p:sp>
      <p:sp>
        <p:nvSpPr>
          <p:cNvPr id="2" name="">
            <a:extLst>
              <a:ext uri="{FF2B5EF4-FFF2-40B4-BE49-F238E27FC236}">
                <ns2:creationId id="{D4B89563-95AA-4D6D-B28E-2A265C436A9C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F5D6F6F9-F3DC-40C9-BB95-7EA92D55A670}"/>
              </a:ext>
            </a:extLst>
          </p:cNvPr>
          <p:cNvPicPr>
            <a:picLocks noChangeAspect="1"/>
          </p:cNvPicPr>
          <p:nvPr/>
        </p:nvPicPr>
        <p:blipFill>
          <a:blip r:embed="Rd7f0da63dd044981"/>
          <a:stretch/>
        </p:blipFill>
        <p:spPr>
          <a:xfrm>
            <a:off x="8977313" y="1143000"/>
            <a:ext cx="2238375" cy="2238375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C11D7D0D-0A06-44C8-A954-18F7C45F9028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defPPr>
            <a:lvl1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1pPr>
            <a:lvl2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2pPr>
            <a:lvl3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3pPr>
            <a:lvl4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4pPr>
            <a:lvl5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5pPr>
            <a:lvl6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6pPr>
            <a:lvl7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7pPr>
            <a:lvl8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8pPr>
            <a:lvl9pPr algn="l"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lvl9pPr>
          </a:lstStyle>
          <a:p>
            <a:pPr algn="l">
              <a:lnSpc>
                <a:spcPct val="132000"/>
              </a:lnSpc>
              <a:buNone/>
              <a:def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defRPr>
            </a:pPr>
            <a:r>
              <a:rPr sz="4800" spc="60" kern="1200">
                <a:solidFill>
                  <a:srgbClr val="2148B8"/>
                </a:solidFill>
                <a:latin typeface="Baskerville"/>
                <a:ea typeface="Baskerville"/>
                <a:cs typeface="Baskerville"/>
              </a:rPr>
              <a:t>Seinfeld Is Unfunny</a:t>
            </a:r>
          </a:p>
        </p:txBody>
      </p:sp>
      <p:sp>
        <p:nvSpPr>
          <p:cNvPr id="5" name="">
            <a:extLst>
              <a:ext uri="{FF2B5EF4-FFF2-40B4-BE49-F238E27FC236}">
                <ns2:creationId id="{2C3A00F3-9428-4FEC-8C68-C41AFB2BA641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直译过来就是“《宋飞正传》不好笑”。</a:t>
            </a:r>
          </a:p>
        </p:txBody>
      </p:sp>
      <p:sp>
        <p:nvSpPr>
          <p:cNvPr id="6" name="">
            <a:extLst>
              <a:ext uri="{FF2B5EF4-FFF2-40B4-BE49-F238E27FC236}">
                <ns2:creationId id="{7B6FE47D-0A7A-45AD-A217-CB2D24D278C8}"/>
              </a:ext>
            </a:extLst>
          </p:cNvPr>
          <p:cNvSpPr>
            <a:spLocks noGrp="1"/>
          </p:cNvSpPr>
          <p:nvPr/>
        </p:nvSpPr>
        <p:spPr>
          <a:xfrm>
            <a:off x="1000125" y="4000500"/>
            <a:ext cx="102870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某些作品曾经具有鲜明的创新性，但由于后来者不断借鉴、</a:t>
            </a:r>
          </a:p>
          <a:p>
            <a:pPr algn="l">
              <a:lnSpc>
                <a:spcPct val="132000"/>
              </a:lnSpc>
              <a:buNone/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模仿和改造，它们原本独特的表达方式逐渐成为常见的</a:t>
            </a:r>
          </a:p>
          <a:p>
            <a:pPr algn="l">
              <a:lnSpc>
                <a:spcPct val="132000"/>
              </a:lnSpc>
              <a:buNone/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艺术惯例。</a:t>
            </a:r>
          </a:p>
        </p:txBody>
      </p:sp>
    </p:spTree>
    <p:extLst>
      <p:ext uri="{BB962C8B-B14F-4D97-AF65-F5344CB8AC3E}">
        <ns4:creationId val="918432598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6E712AB0-413C-4172-9E9E-28B12020D4F1}"/>
              </a:ext>
            </a:extLst>
          </p:cNvPr>
          <p:cNvSpPr>
            <a:spLocks noGrp="1"/>
          </p:cNvSpPr>
          <p:nvPr/>
        </p:nvSpPr>
        <p:spPr>
          <a:xfrm>
            <a:off x="571500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20 ／</a:t>
            </a:r>
          </a:p>
        </p:txBody>
      </p:sp>
      <p:sp>
        <p:nvSpPr>
          <p:cNvPr id="2" name="">
            <a:extLst>
              <a:ext uri="{FF2B5EF4-FFF2-40B4-BE49-F238E27FC236}">
                <ns2:creationId id="{B11AFCE4-59CF-493A-B14B-D95531B3001C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43C7B0D8-2E0E-49E1-BB5D-B20F57D4EAEB}"/>
              </a:ext>
            </a:extLst>
          </p:cNvPr>
          <p:cNvSpPr>
            <a:spLocks noGrp="1"/>
          </p:cNvSpPr>
          <p:nvPr/>
        </p:nvSpPr>
        <p:spPr>
          <a:xfrm>
            <a:off x="952500" y="9525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王小波</a:t>
            </a:r>
          </a:p>
        </p:txBody>
      </p:sp>
      <p:sp>
        <p:nvSpPr>
          <p:cNvPr id="4" name="">
            <a:extLst>
              <a:ext uri="{FF2B5EF4-FFF2-40B4-BE49-F238E27FC236}">
                <ns2:creationId id="{1E3C11AE-5990-49B3-948F-EEA49135056F}"/>
              </a:ext>
            </a:extLst>
          </p:cNvPr>
          <p:cNvSpPr>
            <a:spLocks noGrp="1"/>
          </p:cNvSpPr>
          <p:nvPr/>
        </p:nvSpPr>
        <p:spPr>
          <a:xfrm>
            <a:off x="5810250" y="1238250"/>
            <a:ext cx="857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spc="60" kern="1200">
                <a:solidFill>
                  <a:srgbClr val="546778"/>
                </a:solidFill>
                <a:latin typeface="Noto Serif CJK SC"/>
                <a:ea typeface="Noto Serif CJK SC"/>
                <a:cs typeface="Noto Serif CJK SC"/>
              </a:rPr>
              <a:t>和</a:t>
            </a:r>
          </a:p>
        </p:txBody>
      </p:sp>
      <p:sp>
        <p:nvSpPr>
          <p:cNvPr id="5" name="">
            <a:extLst>
              <a:ext uri="{FF2B5EF4-FFF2-40B4-BE49-F238E27FC236}">
                <ns2:creationId id="{1D8A705D-1BF7-4AB0-AE64-8197BE7BD2D7}"/>
              </a:ext>
            </a:extLst>
          </p:cNvPr>
          <p:cNvSpPr>
            <a:spLocks noGrp="1"/>
          </p:cNvSpPr>
          <p:nvPr/>
        </p:nvSpPr>
        <p:spPr>
          <a:xfrm>
            <a:off x="7143750" y="952500"/>
            <a:ext cx="4286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博尔赫斯</a:t>
            </a:r>
          </a:p>
        </p:txBody>
      </p:sp>
      <p:pic>
        <p:nvPicPr>
          <p:cNvPr id="6" name="">
            <a:extLst>
              <a:ext uri="{FF2B5EF4-FFF2-40B4-BE49-F238E27FC236}">
                <ns2:creationId id="{A328AE09-4C51-4D45-9938-DFFDD607F9D0}"/>
              </a:ext>
            </a:extLst>
          </p:cNvPr>
          <p:cNvPicPr>
            <a:picLocks noChangeAspect="1"/>
          </p:cNvPicPr>
          <p:nvPr/>
        </p:nvPicPr>
        <p:blipFill>
          <a:blip r:embed="R4890ae3e52e743be"/>
          <a:stretch/>
        </p:blipFill>
        <p:spPr>
          <a:xfrm>
            <a:off x="1356701" y="2571750"/>
            <a:ext cx="3430223" cy="4286250"/>
          </a:xfrm>
          <a:prstGeom prst="rect">
            <a:avLst/>
          </a:prstGeom>
        </p:spPr>
      </p:pic>
      <p:pic>
        <p:nvPicPr>
          <p:cNvPr id="7" name="">
            <a:extLst>
              <a:ext uri="{FF2B5EF4-FFF2-40B4-BE49-F238E27FC236}">
                <ns2:creationId id="{C27BDD7E-5F5F-41CD-BBCD-744AB2F70675}"/>
              </a:ext>
            </a:extLst>
          </p:cNvPr>
          <p:cNvPicPr>
            <a:picLocks noChangeAspect="1"/>
          </p:cNvPicPr>
          <p:nvPr/>
        </p:nvPicPr>
        <p:blipFill>
          <a:blip r:embed="R4f1537133a364015"/>
          <a:stretch/>
        </p:blipFill>
        <p:spPr>
          <a:xfrm>
            <a:off x="7328849" y="2381250"/>
            <a:ext cx="3582677" cy="4476750"/>
          </a:xfrm>
          <a:prstGeom prst="rect">
            <a:avLst/>
          </a:prstGeom>
        </p:spPr>
      </p:pic>
    </p:spTree>
    <p:extLst>
      <p:ext uri="{BB962C8B-B14F-4D97-AF65-F5344CB8AC3E}">
        <ns4:creationId val="2089435644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D26F4F5A-A789-4CE9-8B0A-86BC69EF09BB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21 ／</a:t>
            </a:r>
          </a:p>
        </p:txBody>
      </p:sp>
      <p:sp>
        <p:nvSpPr>
          <p:cNvPr id="2" name="">
            <a:extLst>
              <a:ext uri="{FF2B5EF4-FFF2-40B4-BE49-F238E27FC236}">
                <ns2:creationId id="{146A0F2A-4C3D-4F26-B85D-8B087A29AA2A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7E9E54C6-A59D-4FAD-AC27-DB5EEB8C03D9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pic>
        <p:nvPicPr>
          <p:cNvPr id="4" name="">
            <a:extLst>
              <a:ext uri="{FF2B5EF4-FFF2-40B4-BE49-F238E27FC236}">
                <ns2:creationId id="{CFB1E2A1-46F9-48D4-9F25-4B8FA7521061}"/>
              </a:ext>
            </a:extLst>
          </p:cNvPr>
          <p:cNvPicPr>
            <a:picLocks noChangeAspect="1"/>
          </p:cNvPicPr>
          <p:nvPr/>
        </p:nvPicPr>
        <p:blipFill>
          <a:blip r:embed="Rf6ae558144054358"/>
          <a:stretch/>
        </p:blipFill>
        <p:spPr>
          <a:xfrm>
            <a:off x="8691563" y="3810000"/>
            <a:ext cx="2238375" cy="223837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110CC029-CD3F-4142-9CE4-C0BEBF55EE8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当一种艺术创新被反复继承，</a:t>
            </a:r>
          </a:p>
        </p:txBody>
      </p:sp>
      <p:sp>
        <p:nvSpPr>
          <p:cNvPr id="6" name="">
            <a:extLst>
              <a:ext uri="{FF2B5EF4-FFF2-40B4-BE49-F238E27FC236}">
                <ns2:creationId id="{CAF42EFD-A822-4CD2-A122-06B8B2261A16}"/>
              </a:ext>
            </a:extLst>
          </p:cNvPr>
          <p:cNvSpPr>
            <a:spLocks noGrp="1"/>
          </p:cNvSpPr>
          <p:nvPr/>
        </p:nvSpPr>
        <p:spPr>
          <a:xfrm>
            <a:off x="952500" y="3286125"/>
            <a:ext cx="971550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它就可能从令人陌生的表达，</a:t>
            </a:r>
          </a:p>
          <a:p>
            <a:pPr algn="l">
              <a:lnSpc>
                <a:spcPct val="120000"/>
              </a:lnSpc>
              <a:buNone/>
              <a:def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逐渐成为理所当然的惯例。</a:t>
            </a:r>
          </a:p>
        </p:txBody>
      </p:sp>
    </p:spTree>
    <p:extLst>
      <p:ext uri="{BB962C8B-B14F-4D97-AF65-F5344CB8AC3E}">
        <ns4:creationId val="443240608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5BE16A1D-685A-4F90-98DB-2935D4ECE048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22 ／</a:t>
            </a:r>
          </a:p>
        </p:txBody>
      </p:sp>
      <p:sp>
        <p:nvSpPr>
          <p:cNvPr id="2" name="">
            <a:extLst>
              <a:ext uri="{FF2B5EF4-FFF2-40B4-BE49-F238E27FC236}">
                <ns2:creationId id="{41949978-14E5-42DE-97C0-0258E4665B87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8A298387-A585-4BD5-812E-C84BB582EAD5}"/>
              </a:ext>
            </a:extLst>
          </p:cNvPr>
          <p:cNvPicPr>
            <a:picLocks noChangeAspect="1"/>
          </p:cNvPicPr>
          <p:nvPr/>
        </p:nvPicPr>
        <p:blipFill>
          <a:blip r:embed="R1a8b4b11cd2443b0"/>
          <a:stretch/>
        </p:blipFill>
        <p:spPr>
          <a:xfrm>
            <a:off x="8262938" y="2905125"/>
            <a:ext cx="3095625" cy="3095625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CF0C0FBB-EF3A-4DA2-9A92-FE8705A7F1E5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德国接受美学理论家姚斯曾提出</a:t>
            </a:r>
          </a:p>
        </p:txBody>
      </p:sp>
      <p:sp>
        <p:nvSpPr>
          <p:cNvPr id="5" name="">
            <a:extLst>
              <a:ext uri="{FF2B5EF4-FFF2-40B4-BE49-F238E27FC236}">
                <ns2:creationId id="{E4E20846-4438-42E8-8C08-F2BE0C06B009}"/>
              </a:ext>
            </a:extLst>
          </p:cNvPr>
          <p:cNvSpPr>
            <a:spLocks noGrp="1"/>
          </p:cNvSpPr>
          <p:nvPr/>
        </p:nvSpPr>
        <p:spPr>
          <a:xfrm>
            <a:off x="1143000" y="3190875"/>
            <a:ext cx="99060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73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“期待视野”</a:t>
            </a:r>
          </a:p>
        </p:txBody>
      </p:sp>
    </p:spTree>
    <p:extLst>
      <p:ext uri="{BB962C8B-B14F-4D97-AF65-F5344CB8AC3E}">
        <ns4:creationId val="746167444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FDF6270-BAAB-4484-A773-E71E7DD6B650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23 ／</a:t>
            </a:r>
          </a:p>
        </p:txBody>
      </p:sp>
      <p:sp>
        <p:nvSpPr>
          <p:cNvPr id="2" name="">
            <a:extLst>
              <a:ext uri="{FF2B5EF4-FFF2-40B4-BE49-F238E27FC236}">
                <ns2:creationId id="{24CE7785-AB69-4CCE-851B-30CF0041BC44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AB27692D-2D9B-4AD0-AC16-9F846E91BBFC}"/>
              </a:ext>
            </a:extLst>
          </p:cNvPr>
          <p:cNvSpPr>
            <a:spLocks noGrp="1"/>
          </p:cNvSpPr>
          <p:nvPr/>
        </p:nvSpPr>
        <p:spPr>
          <a:xfrm>
            <a:off x="952500" y="1238250"/>
            <a:ext cx="10477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我们阅读一部作品，</a:t>
            </a:r>
          </a:p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并不是在完全空白的状态下进行判断的。</a:t>
            </a:r>
          </a:p>
        </p:txBody>
      </p:sp>
      <p:sp>
        <p:nvSpPr>
          <p:cNvPr id="4" name="">
            <a:extLst>
              <a:ext uri="{FF2B5EF4-FFF2-40B4-BE49-F238E27FC236}">
                <ns2:creationId id="{43F65EA4-708B-4206-A438-790004050AF2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此前读过的小说、看过的电影，以及已经形成的审美习惯，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都会影响我们对新作品的理解。</a:t>
            </a:r>
          </a:p>
        </p:txBody>
      </p:sp>
      <p:sp>
        <p:nvSpPr>
          <p:cNvPr id="5" name="">
            <a:extLst>
              <a:ext uri="{FF2B5EF4-FFF2-40B4-BE49-F238E27FC236}">
                <ns2:creationId id="{F91FC3F0-7554-425D-A110-4923A4F7E025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所以，我们无法真正把自己的大脑恢复成1942年或1984年的状态，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重新成为第一代读者。</a:t>
            </a:r>
          </a:p>
        </p:txBody>
      </p:sp>
      <p:sp>
        <p:nvSpPr>
          <p:cNvPr id="6" name="">
            <a:extLst>
              <a:ext uri="{FF2B5EF4-FFF2-40B4-BE49-F238E27FC236}">
                <ns2:creationId id="{571D9979-03FE-49A3-A63B-E01BAF2E305E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在那些作家和今天的我们之间，已经隔着几十年甚至上百年的</a:t>
            </a:r>
          </a:p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文学传播、文化变化和艺术创造。</a:t>
            </a:r>
          </a:p>
        </p:txBody>
      </p:sp>
    </p:spTree>
    <p:extLst>
      <p:ext uri="{BB962C8B-B14F-4D97-AF65-F5344CB8AC3E}">
        <ns3:creationId val="1129474281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39D18682-3599-406A-86B4-5B31C85BB039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24 ／</a:t>
            </a:r>
          </a:p>
        </p:txBody>
      </p:sp>
      <p:sp>
        <p:nvSpPr>
          <p:cNvPr id="2" name="">
            <a:extLst>
              <a:ext uri="{FF2B5EF4-FFF2-40B4-BE49-F238E27FC236}">
                <ns2:creationId id="{53B3B3AA-2EFD-4910-9FE7-C67218D95B4D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0BA61E49-699F-4D03-8160-381B8D479EC9}"/>
              </a:ext>
            </a:extLst>
          </p:cNvPr>
          <p:cNvPicPr>
            <a:picLocks noChangeAspect="1"/>
          </p:cNvPicPr>
          <p:nvPr/>
        </p:nvPicPr>
        <p:blipFill>
          <a:blip r:embed="Rbee8bd2ba0c740a3"/>
          <a:stretch/>
        </p:blipFill>
        <p:spPr>
          <a:xfrm>
            <a:off x="9048750" y="3905250"/>
            <a:ext cx="2095500" cy="209550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867ECAD-09DC-47E3-92A8-65DC9D943366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我们已经在巨人的肩膀上站得太久，</a:t>
            </a:r>
          </a:p>
        </p:txBody>
      </p:sp>
      <p:sp>
        <p:nvSpPr>
          <p:cNvPr id="5" name="">
            <a:extLst>
              <a:ext uri="{FF2B5EF4-FFF2-40B4-BE49-F238E27FC236}">
                <ns2:creationId id="{B7C845B0-6764-407D-B4B0-A6931DFBAC5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047750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久到误以为</a:t>
            </a:r>
          </a:p>
          <a:p>
            <a:pPr algn="l">
              <a:lnSpc>
                <a:spcPct val="120000"/>
              </a:lnSpc>
              <a:buNone/>
              <a:def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脚下原本就是一片平地。</a:t>
            </a:r>
          </a:p>
        </p:txBody>
      </p:sp>
    </p:spTree>
    <p:extLst>
      <p:ext uri="{BB962C8B-B14F-4D97-AF65-F5344CB8AC3E}">
        <ns4:creationId val="2107928868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C9C2AEA8-210F-4CFD-A5D8-F3523B8EF290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25 ／</a:t>
            </a:r>
          </a:p>
        </p:txBody>
      </p:sp>
      <p:sp>
        <p:nvSpPr>
          <p:cNvPr id="2" name="">
            <a:extLst>
              <a:ext uri="{FF2B5EF4-FFF2-40B4-BE49-F238E27FC236}">
                <ns2:creationId id="{AAA43D21-0F5F-4366-BF3A-78045C3C0A22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2D51AE54-A186-416D-881A-83788E52592E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059B0DB9-B80B-4385-8064-4E17B645347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1134114A-7B8D-4C2A-B24B-7DFBAEB771D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D1C8DE1F-48C1-44C0-8D17-1473024CE129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76F63560-250E-4287-8A8A-B6E8BF8EAAF1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771DCB7C-3646-4887-841B-6C9F3B7D3961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40F36228-AB87-4CC1-8563-42ADE6DDC774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1DB80C40-56FD-4AE4-876A-2487E8A5F833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7E92E499-7BC2-4022-B67A-8204CBCF6DDE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103822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五、剥离经典的光环，</a:t>
            </a:r>
          </a:p>
          <a:p>
            <a:pPr algn="l">
              <a:lnSpc>
                <a:spcPct val="120000"/>
              </a:lnSpc>
              <a:buNone/>
              <a:def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9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文学还剩下什么？</a:t>
            </a:r>
          </a:p>
        </p:txBody>
      </p:sp>
      <p:pic>
        <p:nvPicPr>
          <p:cNvPr id="12" name="">
            <a:extLst>
              <a:ext uri="{FF2B5EF4-FFF2-40B4-BE49-F238E27FC236}">
                <ns2:creationId id="{0EA7F40D-4B4D-4C26-BE2B-96377CEEA093}"/>
              </a:ext>
            </a:extLst>
          </p:cNvPr>
          <p:cNvPicPr>
            <a:picLocks noChangeAspect="1"/>
          </p:cNvPicPr>
          <p:nvPr/>
        </p:nvPicPr>
        <p:blipFill>
          <a:blip r:embed="Ra7796aabb17a4a91"/>
          <a:stretch/>
        </p:blipFill>
        <p:spPr>
          <a:xfrm>
            <a:off x="8667750" y="3714750"/>
            <a:ext cx="2428875" cy="2428875"/>
          </a:xfrm>
          <a:prstGeom prst="rect">
            <a:avLst/>
          </a:prstGeom>
        </p:spPr>
      </p:pic>
    </p:spTree>
    <p:extLst>
      <p:ext uri="{BB962C8B-B14F-4D97-AF65-F5344CB8AC3E}">
        <ns4:creationId val="111628144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FB7ED122-261F-4BC5-A429-681BC43A2904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26 ／</a:t>
            </a:r>
          </a:p>
        </p:txBody>
      </p:sp>
      <p:sp>
        <p:nvSpPr>
          <p:cNvPr id="2" name="">
            <a:extLst>
              <a:ext uri="{FF2B5EF4-FFF2-40B4-BE49-F238E27FC236}">
                <ns2:creationId id="{C5A4E61E-0B9B-4DCC-996D-21738CF58C9C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38A7E514-D0D6-41F9-B240-0A9B8D5CAA31}"/>
              </a:ext>
            </a:extLst>
          </p:cNvPr>
          <p:cNvSpPr>
            <a:spLocks noGrp="1"/>
          </p:cNvSpPr>
          <p:nvPr/>
        </p:nvSpPr>
        <p:spPr>
          <a:xfrm>
            <a:off x="904875" y="10953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《棋王》：下棋高手之外</a:t>
            </a:r>
          </a:p>
        </p:txBody>
      </p:sp>
      <p:sp>
        <p:nvSpPr>
          <p:cNvPr id="4" name="">
            <a:extLst>
              <a:ext uri="{FF2B5EF4-FFF2-40B4-BE49-F238E27FC236}">
                <ns2:creationId id="{065C62C4-A347-4DCF-AD7B-7319B874D17F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贫困、棋艺高超、以一敌九，容易让人联想到竞技小说与逆袭叙事。</a:t>
            </a:r>
          </a:p>
          <a:p>
            <a:pPr algn="l">
              <a:lnSpc>
                <a:spcPct val="132000"/>
              </a:lnSpc>
              <a:buNone/>
              <a:def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但作品的价值，主要体现在这个故事套路上吗？</a:t>
            </a:r>
          </a:p>
        </p:txBody>
      </p:sp>
      <p:pic>
        <p:nvPicPr>
          <p:cNvPr id="5" name="">
            <a:extLst>
              <a:ext uri="{FF2B5EF4-FFF2-40B4-BE49-F238E27FC236}">
                <ns2:creationId id="{8A3E2393-71F9-45F5-BBE7-47BF3B210479}"/>
              </a:ext>
            </a:extLst>
          </p:cNvPr>
          <p:cNvPicPr>
            <a:picLocks noChangeAspect="1"/>
          </p:cNvPicPr>
          <p:nvPr/>
        </p:nvPicPr>
        <p:blipFill>
          <a:blip r:embed="R6df67257c5c044cb"/>
          <a:stretch/>
        </p:blipFill>
        <p:spPr>
          <a:xfrm>
            <a:off x="1047750" y="3190875"/>
            <a:ext cx="2095500" cy="20955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972ECC45-EFB9-42D1-8955-4ED288C23BA0}"/>
              </a:ext>
            </a:extLst>
          </p:cNvPr>
          <p:cNvSpPr>
            <a:spLocks noGrp="1"/>
          </p:cNvSpPr>
          <p:nvPr/>
        </p:nvSpPr>
        <p:spPr>
          <a:xfrm>
            <a:off x="3714750" y="309562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认识价值</a:t>
            </a:r>
          </a:p>
        </p:txBody>
      </p:sp>
      <p:sp>
        <p:nvSpPr>
          <p:cNvPr id="7" name="">
            <a:extLst>
              <a:ext uri="{FF2B5EF4-FFF2-40B4-BE49-F238E27FC236}">
                <ns2:creationId id="{72C768A8-F6A5-45A0-A1D1-FA03B0833158}"/>
              </a:ext>
            </a:extLst>
          </p:cNvPr>
          <p:cNvSpPr>
            <a:spLocks noGrp="1"/>
          </p:cNvSpPr>
          <p:nvPr/>
        </p:nvSpPr>
        <p:spPr>
          <a:xfrm>
            <a:off x="3714750" y="3667125"/>
            <a:ext cx="76200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阿城细写王一生怎样吃饭、珍惜粮食，使他成为</a:t>
            </a:r>
          </a:p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有身体、有记忆、有生活经验的人。文学将历史</a:t>
            </a:r>
          </a:p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化为生命经验，使人理解饥饿者怎样看待一粒米饭。</a:t>
            </a:r>
          </a:p>
        </p:txBody>
      </p:sp>
      <p:sp>
        <p:nvSpPr>
          <p:cNvPr id="8" name="">
            <a:extLst>
              <a:ext uri="{FF2B5EF4-FFF2-40B4-BE49-F238E27FC236}">
                <ns2:creationId id="{BC1A369A-C9F8-4F58-8395-253EAFDDFE1F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625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审美价值</a:t>
            </a:r>
          </a:p>
        </p:txBody>
      </p:sp>
      <p:sp>
        <p:nvSpPr>
          <p:cNvPr id="9" name="">
            <a:extLst>
              <a:ext uri="{FF2B5EF4-FFF2-40B4-BE49-F238E27FC236}">
                <ns2:creationId id="{40353C21-5AB8-4C32-AFED-27C4C8C5F9B9}"/>
              </a:ext>
            </a:extLst>
          </p:cNvPr>
          <p:cNvSpPr>
            <a:spLocks noGrp="1"/>
          </p:cNvSpPr>
          <p:nvPr/>
        </p:nvSpPr>
        <p:spPr>
          <a:xfrm>
            <a:off x="3714750" y="5238750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简练、克制的语言，细节、人物关系与叙事节奏，</a:t>
            </a:r>
          </a:p>
          <a:p>
            <a:pPr algn="l">
              <a:lnSpc>
                <a:spcPct val="132000"/>
              </a:lnSpc>
              <a:buNone/>
              <a:def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让精神追求在阅读中获得具体形态。</a:t>
            </a:r>
          </a:p>
        </p:txBody>
      </p:sp>
      <p:sp>
        <p:nvSpPr>
          <p:cNvPr id="10" name="">
            <a:extLst>
              <a:ext uri="{FF2B5EF4-FFF2-40B4-BE49-F238E27FC236}">
                <ns2:creationId id="{AB98C43E-BE76-4B85-A108-C568FD8C0424}"/>
              </a:ext>
            </a:extLst>
          </p:cNvPr>
          <p:cNvSpPr>
            <a:spLocks noGrp="1"/>
          </p:cNvSpPr>
          <p:nvPr/>
        </p:nvSpPr>
        <p:spPr>
          <a:xfrm>
            <a:off x="952500" y="6048375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spc="12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文学不仅传递思想，还通过独特的艺术形式，创造思想被感知的过程。</a:t>
            </a:r>
          </a:p>
        </p:txBody>
      </p:sp>
    </p:spTree>
    <p:extLst>
      <p:ext uri="{BB962C8B-B14F-4D97-AF65-F5344CB8AC3E}">
        <ns4:creationId val="1444693081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79AAEF10-5642-4375-A5A4-9B745C7D1158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27 ／</a:t>
            </a:r>
          </a:p>
        </p:txBody>
      </p:sp>
      <p:sp>
        <p:nvSpPr>
          <p:cNvPr id="2" name="">
            <a:extLst>
              <a:ext uri="{FF2B5EF4-FFF2-40B4-BE49-F238E27FC236}">
                <ns2:creationId id="{F940E2DC-5649-4570-BA76-51437C0A9D94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E57270EB-1FC4-44A7-BFFC-DED5F60E602D}"/>
              </a:ext>
            </a:extLst>
          </p:cNvPr>
          <p:cNvSpPr>
            <a:spLocks noGrp="1"/>
          </p:cNvSpPr>
          <p:nvPr/>
        </p:nvSpPr>
        <p:spPr>
          <a:xfrm>
            <a:off x="904875" y="10953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《象棋的故事》：自救与束缚</a:t>
            </a:r>
          </a:p>
        </p:txBody>
      </p:sp>
      <p:sp>
        <p:nvSpPr>
          <p:cNvPr id="4" name="">
            <a:extLst>
              <a:ext uri="{FF2B5EF4-FFF2-40B4-BE49-F238E27FC236}">
                <ns2:creationId id="{9BE5CDE6-28C9-4E32-8A9F-B83F6C79ECCB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如果只把它当作有关心理失控的惊悚故事，今天的读者可能觉得情节并不复杂。</a:t>
            </a:r>
          </a:p>
        </p:txBody>
      </p:sp>
      <p:sp>
        <p:nvSpPr>
          <p:cNvPr id="5" name="">
            <a:extLst>
              <a:ext uri="{FF2B5EF4-FFF2-40B4-BE49-F238E27FC236}">
                <ns2:creationId id="{609C4834-EDDF-4A3B-910E-FB35ED05803F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7429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为什么下棋能够抵抗囚禁，</a:t>
            </a:r>
          </a:p>
          <a:p>
            <a:pPr algn="l">
              <a:lnSpc>
                <a:spcPct val="120000"/>
              </a:lnSpc>
              <a:buNone/>
              <a:def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又反过来威胁B博士的精神健康？</a:t>
            </a:r>
          </a:p>
        </p:txBody>
      </p:sp>
      <p:pic>
        <p:nvPicPr>
          <p:cNvPr id="6" name="">
            <a:extLst>
              <a:ext uri="{FF2B5EF4-FFF2-40B4-BE49-F238E27FC236}">
                <ns2:creationId id="{3E694845-4E65-4E27-8053-992CF96B6C50}"/>
              </a:ext>
            </a:extLst>
          </p:cNvPr>
          <p:cNvPicPr>
            <a:picLocks noChangeAspect="1"/>
          </p:cNvPicPr>
          <p:nvPr/>
        </p:nvPicPr>
        <p:blipFill>
          <a:blip r:embed="Re02ebd0ab4c64ef0"/>
          <a:stretch/>
        </p:blipFill>
        <p:spPr>
          <a:xfrm>
            <a:off x="9001125" y="2976563"/>
            <a:ext cx="2190750" cy="219075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E33BE415-668F-442A-A1B7-DBAAEFA8CC41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0287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长期隔离中，下棋使他继续进行复杂的精神活动，帮助他保存自我。</a:t>
            </a:r>
          </a:p>
          <a:p>
            <a:pPr algn="l">
              <a:lnSpc>
                <a:spcPct val="132000"/>
              </a:lnSpc>
              <a:buNone/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但当它脱离真实的人际交往，成为封闭在头脑内部的强迫性对弈时，</a:t>
            </a:r>
          </a:p>
          <a:p>
            <a:pPr algn="l">
              <a:lnSpc>
                <a:spcPct val="132000"/>
              </a:lnSpc>
              <a:buNone/>
              <a:def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又形成了新的精神束缚。</a:t>
            </a:r>
          </a:p>
        </p:txBody>
      </p:sp>
      <p:sp>
        <p:nvSpPr>
          <p:cNvPr id="8" name="">
            <a:extLst>
              <a:ext uri="{FF2B5EF4-FFF2-40B4-BE49-F238E27FC236}">
                <ns2:creationId id="{9EDE7007-F5D5-4F64-A32A-AC65F36394D7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精神活动并不天然意味着精神自由。</a:t>
            </a:r>
          </a:p>
        </p:txBody>
      </p:sp>
    </p:spTree>
    <p:extLst>
      <p:ext uri="{BB962C8B-B14F-4D97-AF65-F5344CB8AC3E}">
        <ns4:creationId val="1601494302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BA48EA0-1261-4BAE-8349-07840F180873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28 ／</a:t>
            </a:r>
          </a:p>
        </p:txBody>
      </p:sp>
      <p:sp>
        <p:nvSpPr>
          <p:cNvPr id="2" name="">
            <a:extLst>
              <a:ext uri="{FF2B5EF4-FFF2-40B4-BE49-F238E27FC236}">
                <ns2:creationId id="{0C7A3FD3-FBB0-49D4-ADF4-8016A7ACDD0B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64BB40EC-62F2-45BA-9CD1-40CE0166006D}"/>
              </a:ext>
            </a:extLst>
          </p:cNvPr>
          <p:cNvPicPr>
            <a:picLocks noChangeAspect="1"/>
          </p:cNvPicPr>
          <p:nvPr/>
        </p:nvPicPr>
        <p:blipFill>
          <a:blip r:embed="Rc62c24710eb3424f"/>
          <a:stretch/>
        </p:blipFill>
        <p:spPr>
          <a:xfrm>
            <a:off x="9001125" y="3905250"/>
            <a:ext cx="2000250" cy="20002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C23B003-5943-4FC0-BE05-FE927DB0D26A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102870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人在现实生活的限制中，</a:t>
            </a:r>
          </a:p>
          <a:p>
            <a:pPr algn="l">
              <a:lnSpc>
                <a:spcPct val="120000"/>
              </a:lnSpc>
              <a:buNone/>
              <a:def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7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如何保存自己的精神世界？</a:t>
            </a:r>
          </a:p>
        </p:txBody>
      </p:sp>
      <p:sp>
        <p:nvSpPr>
          <p:cNvPr id="5" name="">
            <a:extLst>
              <a:ext uri="{FF2B5EF4-FFF2-40B4-BE49-F238E27FC236}">
                <ns2:creationId id="{D4D29065-DF76-4289-9B63-15B747307B04}"/>
              </a:ext>
            </a:extLst>
          </p:cNvPr>
          <p:cNvSpPr>
            <a:spLocks noGrp="1"/>
          </p:cNvSpPr>
          <p:nvPr/>
        </p:nvSpPr>
        <p:spPr>
          <a:xfrm>
            <a:off x="952500" y="3857625"/>
            <a:ext cx="102870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而精神世界又应当</a:t>
            </a:r>
          </a:p>
          <a:p>
            <a:pPr algn="l">
              <a:lnSpc>
                <a:spcPct val="120000"/>
              </a:lnSpc>
              <a:buNone/>
              <a:def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7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与现实生活保持怎样的关系？</a:t>
            </a:r>
          </a:p>
        </p:txBody>
      </p:sp>
    </p:spTree>
    <p:extLst>
      <p:ext uri="{BB962C8B-B14F-4D97-AF65-F5344CB8AC3E}">
        <ns4:creationId val="34404921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A6E2F74F-B46B-4AFA-B610-9A9DA0C17108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29 ／</a:t>
            </a:r>
          </a:p>
        </p:txBody>
      </p:sp>
      <p:sp>
        <p:nvSpPr>
          <p:cNvPr id="2" name="">
            <a:extLst>
              <a:ext uri="{FF2B5EF4-FFF2-40B4-BE49-F238E27FC236}">
                <ns2:creationId id="{D80987E1-8405-4B78-9C9A-79AF901126F2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4E20E68F-4284-4C6E-ADEB-54B2FBEF3896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AD9F6BBF-DF3D-4C9A-A69C-0B709AD3DCB9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文学的第三种价值</a:t>
            </a:r>
          </a:p>
        </p:txBody>
      </p:sp>
      <p:sp>
        <p:nvSpPr>
          <p:cNvPr id="5" name="">
            <a:extLst>
              <a:ext uri="{FF2B5EF4-FFF2-40B4-BE49-F238E27FC236}">
                <ns2:creationId id="{6B3D4505-77D2-4495-A4AC-ABF73970B14C}"/>
              </a:ext>
            </a:extLst>
          </p:cNvPr>
          <p:cNvSpPr>
            <a:spLocks noGrp="1"/>
          </p:cNvSpPr>
          <p:nvPr/>
        </p:nvSpPr>
        <p:spPr>
          <a:xfrm>
            <a:off x="952500" y="3286125"/>
            <a:ext cx="10477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批判与反思的价值</a:t>
            </a:r>
          </a:p>
        </p:txBody>
      </p:sp>
    </p:spTree>
    <p:extLst>
      <p:ext uri="{BB962C8B-B14F-4D97-AF65-F5344CB8AC3E}">
        <ns3:creationId val="1803646272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8DFBF98B-7C04-48A2-89EE-1E9DBA0ED6BF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30 ／</a:t>
            </a:r>
          </a:p>
        </p:txBody>
      </p:sp>
      <p:sp>
        <p:nvSpPr>
          <p:cNvPr id="2" name="">
            <a:extLst>
              <a:ext uri="{FF2B5EF4-FFF2-40B4-BE49-F238E27FC236}">
                <ns2:creationId id="{8BAFEBD9-52C9-46AC-9005-7549D1DF3445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A7496D44-F82A-4FCA-A666-FF8966276EF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4" name="">
            <a:extLst>
              <a:ext uri="{FF2B5EF4-FFF2-40B4-BE49-F238E27FC236}">
                <ns2:creationId id="{C2810B41-D007-4A7E-ABB5-6D6A0C6DF744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5" name="">
            <a:extLst>
              <a:ext uri="{FF2B5EF4-FFF2-40B4-BE49-F238E27FC236}">
                <ns2:creationId id="{280BAB1F-D22C-403C-8D1C-850F145FF38E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6" name="">
            <a:extLst>
              <a:ext uri="{FF2B5EF4-FFF2-40B4-BE49-F238E27FC236}">
                <ns2:creationId id="{6ECDB097-5E6B-4A9E-8168-CEB533482645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FB88061C-CF61-4012-85A8-6CA7E2842F99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5928B8F6-001E-445F-A1AE-E485BBAAAF13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E29804CC-8DAD-4DCE-81C6-1C5AE0A34349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2739C6CB-6BEB-4CB3-B6EE-10C0DBDCF0CD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  <p:sp>
        <p:nvSpPr>
          <p:cNvPr id="11" name="">
            <a:extLst>
              <a:ext uri="{FF2B5EF4-FFF2-40B4-BE49-F238E27FC236}">
                <ns2:creationId id="{8C93D5B3-C14A-478B-829A-1FFB99B582D5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9906000" cy="2000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经典究竟</a:t>
            </a:r>
          </a:p>
          <a:p>
            <a:pPr algn="ctr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何以成为经典？</a:t>
            </a:r>
          </a:p>
        </p:txBody>
      </p:sp>
    </p:spTree>
    <p:extLst>
      <p:ext uri="{BB962C8B-B14F-4D97-AF65-F5344CB8AC3E}">
        <ns3:creationId val="1262275175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71A417F-8B79-4224-A7B5-DA0266FA3B95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31 ／</a:t>
            </a:r>
          </a:p>
        </p:txBody>
      </p:sp>
      <p:sp>
        <p:nvSpPr>
          <p:cNvPr id="2" name="">
            <a:extLst>
              <a:ext uri="{FF2B5EF4-FFF2-40B4-BE49-F238E27FC236}">
                <ns2:creationId id="{CFB115DB-BDCC-4D33-AF49-E415E460A4BC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F6743F14-EB62-41AA-A236-BE6202D53C95}"/>
              </a:ext>
            </a:extLst>
          </p:cNvPr>
          <p:cNvSpPr>
            <a:spLocks noGrp="1"/>
          </p:cNvSpPr>
          <p:nvPr/>
        </p:nvSpPr>
        <p:spPr>
          <a:xfrm>
            <a:off x="904875" y="5981700"/>
            <a:ext cx="10334625" cy="0"/>
          </a:xfrm>
          <a:prstGeom prst="line">
            <a:avLst/>
          </a:prstGeom>
          <a:noFill/>
          <a:ln w="6191">
            <a:solidFill>
              <a:srgbClr val="B9C4D0"/>
            </a:solidFill>
          </a:ln>
        </p:spPr>
      </p:sp>
      <p:sp>
        <p:nvSpPr>
          <p:cNvPr id="4" name="">
            <a:extLst>
              <a:ext uri="{FF2B5EF4-FFF2-40B4-BE49-F238E27FC236}">
                <ns2:creationId id="{F4D0C1A7-851F-4252-8DFD-DFCA352064C8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7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文学即人学</a:t>
            </a:r>
          </a:p>
        </p:txBody>
      </p:sp>
      <p:sp>
        <p:nvSpPr>
          <p:cNvPr id="5" name="">
            <a:extLst>
              <a:ext uri="{FF2B5EF4-FFF2-40B4-BE49-F238E27FC236}">
                <ns2:creationId id="{B0420B9F-30D1-4D51-969D-1D085AA19E62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104775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而经典是历史变量中，</a:t>
            </a:r>
          </a:p>
          <a:p>
            <a:pPr algn="l">
              <a:lnSpc>
                <a:spcPct val="120000"/>
              </a:lnSpc>
              <a:buNone/>
              <a:def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425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人性经验的相对常数。</a:t>
            </a:r>
          </a:p>
        </p:txBody>
      </p:sp>
    </p:spTree>
    <p:extLst>
      <p:ext uri="{BB962C8B-B14F-4D97-AF65-F5344CB8AC3E}">
        <ns3:creationId val="739377689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B97F4A70-6457-4F96-BA54-9AD8D1DEC7D9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32 ／</a:t>
            </a:r>
          </a:p>
        </p:txBody>
      </p:sp>
      <p:sp>
        <p:nvSpPr>
          <p:cNvPr id="2" name="">
            <a:extLst>
              <a:ext uri="{FF2B5EF4-FFF2-40B4-BE49-F238E27FC236}">
                <ns2:creationId id="{34077D01-9EA4-40FC-AA9D-0D93A686F8E1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B7152F63-8181-4D8E-AA83-611112B5A4C4}"/>
              </a:ext>
            </a:extLst>
          </p:cNvPr>
          <p:cNvSpPr>
            <a:spLocks noGrp="1"/>
          </p:cNvSpPr>
          <p:nvPr/>
        </p:nvSpPr>
        <p:spPr>
          <a:xfrm>
            <a:off x="904875" y="904875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文学的价值与经典的历史命运</a:t>
            </a:r>
          </a:p>
        </p:txBody>
      </p:sp>
      <p:sp>
        <p:nvSpPr>
          <p:cNvPr id="4" name="">
            <a:extLst>
              <a:ext uri="{FF2B5EF4-FFF2-40B4-BE49-F238E27FC236}">
                <ns2:creationId id="{6AA8AE9E-A0EF-4EE0-9CA4-9326104B2BAD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第一</a:t>
            </a:r>
          </a:p>
        </p:txBody>
      </p:sp>
      <p:sp>
        <p:nvSpPr>
          <p:cNvPr id="5" name="">
            <a:extLst>
              <a:ext uri="{FF2B5EF4-FFF2-40B4-BE49-F238E27FC236}">
                <ns2:creationId id="{3143B221-FB50-4824-B782-9870255F5B3A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3095625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文学的根本价值，在于通过独特的审美形式，使人的生命经验得到表现、理解与反思。</a:t>
            </a:r>
          </a:p>
          <a:p>
            <a:r>
              <a:t/>
            </a:r>
          </a:p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它不仅具有认识功能和审美功能，也具有使既有观念重新成为问题的批判功能。</a:t>
            </a:r>
          </a:p>
        </p:txBody>
      </p:sp>
      <p:sp>
        <p:nvSpPr>
          <p:cNvPr id="6" name="">
            <a:extLst>
              <a:ext uri="{FF2B5EF4-FFF2-40B4-BE49-F238E27FC236}">
                <ns2:creationId id="{E19956B1-C9A7-46C8-AD5D-41CD5DAB1476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第二</a:t>
            </a:r>
          </a:p>
        </p:txBody>
      </p:sp>
      <p:sp>
        <p:nvSpPr>
          <p:cNvPr id="7" name="">
            <a:extLst>
              <a:ext uri="{FF2B5EF4-FFF2-40B4-BE49-F238E27FC236}">
                <ns2:creationId id="{6C61921D-EE2F-4004-9FEC-E12E44878860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3095625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经典不是与生俱来的，而是在文学价值的基础上，通过历史中的传播、阅读、批评与选择不断形成的。</a:t>
            </a:r>
          </a:p>
          <a:p>
            <a:r>
              <a:t/>
            </a:r>
          </a:p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它可能开拓新的艺术道路，也可能创造性地综合已有传统，但任何一种艺术成就都不意味着作品能够自动成为经典。</a:t>
            </a:r>
          </a:p>
        </p:txBody>
      </p:sp>
      <p:sp>
        <p:nvSpPr>
          <p:cNvPr id="8" name="">
            <a:extLst>
              <a:ext uri="{FF2B5EF4-FFF2-40B4-BE49-F238E27FC236}">
                <ns2:creationId id="{E6AD91BF-2226-4852-869D-287B0CBBFAE5}"/>
              </a:ext>
            </a:extLst>
          </p:cNvPr>
          <p:cNvSpPr>
            <a:spLocks noGrp="1"/>
          </p:cNvSpPr>
          <p:nvPr/>
        </p:nvSpPr>
        <p:spPr>
          <a:xfrm>
            <a:off x="8191500" y="2000250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第三</a:t>
            </a:r>
          </a:p>
        </p:txBody>
      </p:sp>
      <p:sp>
        <p:nvSpPr>
          <p:cNvPr id="9" name="">
            <a:extLst>
              <a:ext uri="{FF2B5EF4-FFF2-40B4-BE49-F238E27FC236}">
                <ns2:creationId id="{477168F2-4515-414D-B6F3-8A830D1513F7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3095625" cy="3143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经典的持续价值，不只在于它曾经改变了文学，还在于它今天仍然可能改变我们。</a:t>
            </a:r>
          </a:p>
          <a:p>
            <a:r>
              <a:t/>
            </a:r>
          </a:p>
          <a:p>
            <a:pPr algn="l">
              <a:lnSpc>
                <a:spcPct val="132000"/>
              </a:lnSpc>
              <a:buNone/>
              <a:def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spc="12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最初的审美震撼可能消退，艺术创新也可能变成惯例，但作品中那些复杂而具体的生命经验，依然可能向新的时代提出问题。</a:t>
            </a:r>
          </a:p>
        </p:txBody>
      </p:sp>
    </p:spTree>
    <p:extLst>
      <p:ext uri="{BB962C8B-B14F-4D97-AF65-F5344CB8AC3E}">
        <ns3:creationId val="1641663245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3F68F957-FD0B-49F7-AD1C-B8E644804AAF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33 ／</a:t>
            </a:r>
          </a:p>
        </p:txBody>
      </p:sp>
      <p:sp>
        <p:nvSpPr>
          <p:cNvPr id="2" name="">
            <a:extLst>
              <a:ext uri="{FF2B5EF4-FFF2-40B4-BE49-F238E27FC236}">
                <ns2:creationId id="{C52A76FC-C9ED-4133-88B1-D5E8187C0452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100012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pic>
        <p:nvPicPr>
          <p:cNvPr id="3" name="">
            <a:extLst>
              <a:ext uri="{FF2B5EF4-FFF2-40B4-BE49-F238E27FC236}">
                <ns2:creationId id="{F448D0CD-A5F2-441C-9BB6-A6CFEEBF5D43}"/>
              </a:ext>
            </a:extLst>
          </p:cNvPr>
          <p:cNvPicPr>
            <a:picLocks noChangeAspect="1"/>
          </p:cNvPicPr>
          <p:nvPr/>
        </p:nvPicPr>
        <p:blipFill>
          <a:blip r:embed="R8761d908710045bc"/>
          <a:stretch/>
        </p:blipFill>
        <p:spPr>
          <a:xfrm>
            <a:off x="8200468" y="1809750"/>
            <a:ext cx="3125314" cy="39052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D2BC21F8-F49A-43A6-9462-3F653BB74C2E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7143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我们已经在巨人的肩膀上</a:t>
            </a:r>
          </a:p>
          <a:p>
            <a:pPr algn="l">
              <a:lnSpc>
                <a:spcPct val="120000"/>
              </a:lnSpc>
              <a:buNone/>
              <a:def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spc="60" kern="1200">
                <a:solidFill>
                  <a:srgbClr val="24333E"/>
                </a:solidFill>
                <a:latin typeface="Noto Serif CJK SC"/>
                <a:ea typeface="Noto Serif CJK SC"/>
                <a:cs typeface="Noto Serif CJK SC"/>
              </a:rPr>
              <a:t>站得太久，</a:t>
            </a:r>
          </a:p>
        </p:txBody>
      </p:sp>
      <p:sp>
        <p:nvSpPr>
          <p:cNvPr id="5" name="">
            <a:extLst>
              <a:ext uri="{FF2B5EF4-FFF2-40B4-BE49-F238E27FC236}">
                <ns2:creationId id="{DE19F7BF-9B4C-4DC3-AB2E-B1CF7B191B85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7143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久到误以为脚下</a:t>
            </a:r>
          </a:p>
          <a:p>
            <a:pPr algn="l">
              <a:lnSpc>
                <a:spcPct val="120000"/>
              </a:lnSpc>
              <a:buNone/>
              <a:def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65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原本就是一片平地。</a:t>
            </a:r>
          </a:p>
        </p:txBody>
      </p:sp>
    </p:spTree>
    <p:extLst>
      <p:ext uri="{BB962C8B-B14F-4D97-AF65-F5344CB8AC3E}">
        <ns4:creationId val="1630105945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898BB664-71D6-43D3-B3F9-D56D3391493C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34 ／</a:t>
            </a:r>
          </a:p>
        </p:txBody>
      </p:sp>
      <p:sp>
        <p:nvSpPr>
          <p:cNvPr id="2" name="">
            <a:extLst>
              <a:ext uri="{FF2B5EF4-FFF2-40B4-BE49-F238E27FC236}">
                <ns2:creationId id="{FC7E98A6-D6A9-47C5-9B9F-C9438C0F2386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DFD4EE7A-564F-4A21-AF6B-88BBE1093BC0}"/>
              </a:ext>
            </a:extLst>
          </p:cNvPr>
          <p:cNvSpPr>
            <a:spLocks noGrp="1"/>
          </p:cNvSpPr>
          <p:nvPr/>
        </p:nvSpPr>
        <p:spPr>
          <a:xfrm>
            <a:off x="904875" y="1000125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参考文献</a:t>
            </a:r>
          </a:p>
        </p:txBody>
      </p:sp>
      <p:sp>
        <p:nvSpPr>
          <p:cNvPr id="4" name="">
            <a:extLst>
              <a:ext uri="{FF2B5EF4-FFF2-40B4-BE49-F238E27FC236}">
                <ns2:creationId id="{8D3A4B40-6F3B-4155-A8F6-246D3F62D417}"/>
              </a:ext>
            </a:extLst>
          </p:cNvPr>
          <p:cNvSpPr>
            <a:spLocks noGrp="1"/>
          </p:cNvSpPr>
          <p:nvPr/>
        </p:nvSpPr>
        <p:spPr>
          <a:xfrm>
            <a:off x="6096000" y="1905000"/>
            <a:ext cx="0" cy="3905250"/>
          </a:xfrm>
          <a:prstGeom prst="line">
            <a:avLst/>
          </a:prstGeom>
          <a:noFill/>
          <a:ln w="6668">
            <a:solidFill>
              <a:srgbClr val="B9C4D0"/>
            </a:solidFill>
          </a:ln>
        </p:spPr>
      </p:sp>
      <p:sp>
        <p:nvSpPr>
          <p:cNvPr id="5" name="">
            <a:extLst>
              <a:ext uri="{FF2B5EF4-FFF2-40B4-BE49-F238E27FC236}">
                <ns2:creationId id="{35714FFF-31F6-4670-8CD2-67FFD3CD096D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4857750" cy="41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[1] 茨威格. 象棋的故事[M]. Buenos Aires: Verlag Pigmalión, 1942.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[2] 阿城. 棋王[J]. 上海文学, 1984(7).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[3] 童庆炳. 文学经典建构诸因素及其关系[J]. 北京大学学报(哲学社会科学版), 2005, 42(5): 71-78.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[4] 杨晓帆. 知青小说如何“寻根”——《棋王》的经典化与寻根文学的剥离式批评[J]. 南方文坛, 2010(6): 40-49.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[5] 刘大先. 泛文学及其当代接受问题——重勘阿城《棋王》[J]. 小说评论, 2024(2): 139-147.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[6] 王德威. 世俗的技艺——闲话阿城与小说[EB/OL]. 中国作家网, 2018.</a:t>
            </a:r>
          </a:p>
        </p:txBody>
      </p:sp>
      <p:sp>
        <p:nvSpPr>
          <p:cNvPr id="6" name="">
            <a:extLst>
              <a:ext uri="{FF2B5EF4-FFF2-40B4-BE49-F238E27FC236}">
                <ns2:creationId id="{04533E03-6298-4A44-9747-E665015CDD53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4857750" cy="41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[7] HOEFLE A J. China's Stefan Zweig: The Dynamics of Cross-Cultural Reception[M]. Honolulu: University of Hawaiʻi Press, 2017.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[8] JAUSS H R. Literary History as a Challenge to Literary Theory[J]. New Literary History, 1970, 2(1): 7-37.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[9] CALVINO I. Why Read the Classics?[J]. The New York Review of Books, 1986-10-09.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[10] TOCQUEVILLE A de. L'Ancien Régime et la Révolution[M]. Paris: Michel Lévy Frères, 1856.</a:t>
            </a:r>
          </a:p>
          <a:p>
            <a:r>
              <a:t/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[11] TV Tropes. Seinfeld Is Unfunny[EB/OL].</a:t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https://tvtropes.org/pmwiki/pmwiki.php/</a:t>
            </a:r>
          </a:p>
          <a:p>
            <a:pPr algn="l">
              <a:lnSpc>
                <a:spcPct val="118000"/>
              </a:lnSpc>
              <a:buNone/>
              <a:def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24333E"/>
                </a:solidFill>
                <a:latin typeface="Source Han Sans SC"/>
                <a:ea typeface="Source Han Sans SC"/>
                <a:cs typeface="Source Han Sans SC"/>
              </a:rPr>
              <a:t>Main/SeinfeldIsUnfunny.</a:t>
            </a:r>
          </a:p>
        </p:txBody>
      </p:sp>
    </p:spTree>
    <p:extLst>
      <p:ext uri="{BB962C8B-B14F-4D97-AF65-F5344CB8AC3E}">
        <ns3:creationId val="550704960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91D09F51-2C75-4803-8145-E8DAF257F925}"/>
              </a:ext>
            </a:extLst>
          </p:cNvPr>
          <p:cNvSpPr>
            <a:spLocks noGrp="1"/>
          </p:cNvSpPr>
          <p:nvPr/>
        </p:nvSpPr>
        <p:spPr>
          <a:xfrm>
            <a:off x="10382250" y="617220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r">
              <a:lnSpc>
                <a:spcPct val="132000"/>
              </a:lnSpc>
              <a:buNone/>
              <a:def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spc="0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35 ／</a:t>
            </a:r>
          </a:p>
        </p:txBody>
      </p:sp>
      <p:sp>
        <p:nvSpPr>
          <p:cNvPr id="2" name="">
            <a:extLst>
              <a:ext uri="{FF2B5EF4-FFF2-40B4-BE49-F238E27FC236}">
                <ns2:creationId id="{00151A74-D6EE-4506-B8BA-9B82CCC372A6}"/>
              </a:ext>
            </a:extLst>
          </p:cNvPr>
          <p:cNvSpPr>
            <a:spLocks noGrp="1"/>
          </p:cNvSpPr>
          <p:nvPr/>
        </p:nvSpPr>
        <p:spPr>
          <a:xfrm>
            <a:off x="904875" y="809625"/>
            <a:ext cx="2238375" cy="0"/>
          </a:xfrm>
          <a:prstGeom prst="line">
            <a:avLst/>
          </a:prstGeom>
          <a:noFill/>
          <a:ln w="10478">
            <a:solidFill>
              <a:srgbClr val="2148B8"/>
            </a:solidFill>
          </a:ln>
        </p:spPr>
      </p:sp>
      <p:sp>
        <p:nvSpPr>
          <p:cNvPr id="3" name="">
            <a:extLst>
              <a:ext uri="{FF2B5EF4-FFF2-40B4-BE49-F238E27FC236}">
                <ns2:creationId id="{DD70BCBA-D09E-4AAE-A063-A78F34EA0E4D}"/>
              </a:ext>
            </a:extLst>
          </p:cNvPr>
          <p:cNvSpPr>
            <a:spLocks noGrp="1"/>
          </p:cNvSpPr>
          <p:nvPr/>
        </p:nvSpPr>
        <p:spPr>
          <a:xfrm>
            <a:off x="952500" y="2619375"/>
            <a:ext cx="809625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lnSpc>
                <a:spcPct val="120000"/>
              </a:lnSpc>
              <a:buNone/>
              <a:def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8400" spc="60" kern="1200">
                <a:solidFill>
                  <a:srgbClr val="2148B8"/>
                </a:solidFill>
                <a:latin typeface="Noto Serif CJK SC"/>
                <a:ea typeface="Noto Serif CJK SC"/>
                <a:cs typeface="Noto Serif CJK SC"/>
              </a:rPr>
              <a:t>谢谢聆听</a:t>
            </a:r>
          </a:p>
        </p:txBody>
      </p:sp>
      <p:sp>
        <p:nvSpPr>
          <p:cNvPr id="4" name="">
            <a:extLst>
              <a:ext uri="{FF2B5EF4-FFF2-40B4-BE49-F238E27FC236}">
                <ns2:creationId id="{9115A489-62F5-4661-8DAB-FFC7DA3D42C7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6381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>
            <a:pPr algn="l">
              <a:lnSpc>
                <a:spcPct val="132000"/>
              </a:lnSpc>
              <a:buNone/>
              <a:def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spc="12" kern="1200">
                <a:solidFill>
                  <a:srgbClr val="546778"/>
                </a:solidFill>
                <a:latin typeface="Source Han Sans SC"/>
                <a:ea typeface="Source Han Sans SC"/>
                <a:cs typeface="Source Han Sans SC"/>
              </a:rPr>
              <a:t>欢迎交流</a:t>
            </a:r>
          </a:p>
        </p:txBody>
      </p:sp>
      <p:pic>
        <p:nvPicPr>
          <p:cNvPr id="5" name="">
            <a:extLst>
              <a:ext uri="{FF2B5EF4-FFF2-40B4-BE49-F238E27FC236}">
                <ns2:creationId id="{ABE44527-4AEE-4750-8394-76E881B1EC4F}"/>
              </a:ext>
            </a:extLst>
          </p:cNvPr>
          <p:cNvPicPr>
            <a:picLocks noChangeAspect="1"/>
          </p:cNvPicPr>
          <p:nvPr/>
        </p:nvPicPr>
        <p:blipFill>
          <a:blip r:embed="R1306c25ca7a04878"/>
          <a:stretch/>
        </p:blipFill>
        <p:spPr>
          <a:xfrm>
            <a:off x="8453438" y="3190875"/>
            <a:ext cx="2619375" cy="261937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724B7E86-7682-4F27-BA6A-094777AEC416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3714750" cy="0"/>
          </a:xfrm>
          <a:prstGeom prst="line">
            <a:avLst/>
          </a:prstGeom>
          <a:noFill/>
          <a:ln w="9525">
            <a:solidFill>
              <a:srgbClr val="2148B8"/>
            </a:solidFill>
          </a:ln>
        </p:spPr>
      </p:sp>
      <p:sp>
        <p:nvSpPr>
          <p:cNvPr id="7" name="">
            <a:extLst>
              <a:ext uri="{FF2B5EF4-FFF2-40B4-BE49-F238E27FC236}">
                <ns2:creationId id="{37D5D137-16C1-4C1F-A1CF-01991E2AE5E5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428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8" name="">
            <a:extLst>
              <a:ext uri="{FF2B5EF4-FFF2-40B4-BE49-F238E27FC236}">
                <ns2:creationId id="{52A734FD-DBD3-4A75-A842-08CD34313FDB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2857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9" name="">
            <a:extLst>
              <a:ext uri="{FF2B5EF4-FFF2-40B4-BE49-F238E27FC236}">
                <ns2:creationId id="{FF4B8691-1099-4A3B-8B19-A8FB2C724182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4286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0" name="">
            <a:extLst>
              <a:ext uri="{FF2B5EF4-FFF2-40B4-BE49-F238E27FC236}">
                <ns2:creationId id="{931288A1-3823-4F61-9176-C853B74E6EC6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57150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1" name="">
            <a:extLst>
              <a:ext uri="{FF2B5EF4-FFF2-40B4-BE49-F238E27FC236}">
                <ns2:creationId id="{E72F69E4-2D37-4839-85EE-143B87993D5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71437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2" name="">
            <a:extLst>
              <a:ext uri="{FF2B5EF4-FFF2-40B4-BE49-F238E27FC236}">
                <ns2:creationId id="{3E60716A-3232-4462-B94A-AA9EAE90997C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857250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3" name="">
            <a:extLst>
              <a:ext uri="{FF2B5EF4-FFF2-40B4-BE49-F238E27FC236}">
                <ns2:creationId id="{B3FE9F96-747D-400C-BAD5-083784D64AFF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1285875" cy="1000125"/>
          </a:xfrm>
          <a:prstGeom prst="line">
            <a:avLst/>
          </a:prstGeom>
          <a:noFill/>
          <a:ln w="7144">
            <a:solidFill>
              <a:srgbClr val="2148B8"/>
            </a:solidFill>
          </a:ln>
        </p:spPr>
      </p:sp>
      <p:sp>
        <p:nvSpPr>
          <p:cNvPr id="14" name="">
            <a:extLst>
              <a:ext uri="{FF2B5EF4-FFF2-40B4-BE49-F238E27FC236}">
                <ns2:creationId id="{FB582C8F-40BE-4FC7-A842-4F2F463CA4B7}"/>
              </a:ext>
            </a:extLst>
          </p:cNvPr>
          <p:cNvSpPr>
            <a:spLocks noGrp="1"/>
          </p:cNvSpPr>
          <p:nvPr/>
        </p:nvSpPr>
        <p:spPr>
          <a:xfrm>
            <a:off x="10096500" y="809625"/>
            <a:ext cx="0" cy="1190625"/>
          </a:xfrm>
          <a:prstGeom prst="line">
            <a:avLst/>
          </a:prstGeom>
          <a:noFill/>
          <a:ln w="6668">
            <a:solidFill>
              <a:srgbClr val="AEB9C5"/>
            </a:solidFill>
          </a:ln>
        </p:spPr>
      </p:sp>
    </p:spTree>
    <p:extLst>
      <p:ext uri="{BB962C8B-B14F-4D97-AF65-F5344CB8AC3E}">
        <ns4:creationId val="860433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2026-10-19T05:18:31.4390000Z</dcterms:created>
  <dcterms:modified xsi:type="dcterms:W3CDTF">2026-10-19T05:18:31.4390000Z</dcterms:modified>
</coreProperties>
</file>